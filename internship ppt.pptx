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Poppins" charset="1" panose="00000500000000000000"/>
      <p:regular r:id="rId17"/>
    </p:embeddedFont>
    <p:embeddedFont>
      <p:font typeface="Poppins Bold Italics" charset="1" panose="00000800000000000000"/>
      <p:regular r:id="rId18"/>
    </p:embeddedFont>
    <p:embeddedFont>
      <p:font typeface="Poppins Medium" charset="1" panose="00000600000000000000"/>
      <p:regular r:id="rId19"/>
    </p:embeddedFont>
    <p:embeddedFont>
      <p:font typeface="Poppins Semi-Bold" charset="1" panose="00000700000000000000"/>
      <p:regular r:id="rId20"/>
    </p:embeddedFont>
    <p:embeddedFont>
      <p:font typeface="Poppins Bold" charset="1" panose="00000800000000000000"/>
      <p:regular r:id="rId21"/>
    </p:embeddedFont>
    <p:embeddedFont>
      <p:font typeface="Poppins Light" charset="1" panose="000004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4.png" Type="http://schemas.openxmlformats.org/officeDocument/2006/relationships/image"/><Relationship Id="rId12" Target="../media/image5.svg" Type="http://schemas.openxmlformats.org/officeDocument/2006/relationships/image"/><Relationship Id="rId2" Target="../media/image1.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11" Target="../media/image17.png" Type="http://schemas.openxmlformats.org/officeDocument/2006/relationships/image"/><Relationship Id="rId12" Target="../media/image18.svg" Type="http://schemas.openxmlformats.org/officeDocument/2006/relationships/image"/><Relationship Id="rId13" Target="../media/image19.png" Type="http://schemas.openxmlformats.org/officeDocument/2006/relationships/image"/><Relationship Id="rId14" Target="../media/image20.svg" Type="http://schemas.openxmlformats.org/officeDocument/2006/relationships/image"/><Relationship Id="rId15" Target="../media/image21.png" Type="http://schemas.openxmlformats.org/officeDocument/2006/relationships/image"/><Relationship Id="rId16" Target="../media/image22.svg" Type="http://schemas.openxmlformats.org/officeDocument/2006/relationships/image"/><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23.png" Type="http://schemas.openxmlformats.org/officeDocument/2006/relationships/image"/><Relationship Id="rId12" Target="../media/image24.svg" Type="http://schemas.openxmlformats.org/officeDocument/2006/relationships/image"/><Relationship Id="rId13" Target="../media/image9.png" Type="http://schemas.openxmlformats.org/officeDocument/2006/relationships/image"/><Relationship Id="rId14" Target="../media/image10.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svg" Type="http://schemas.openxmlformats.org/officeDocument/2006/relationships/image"/><Relationship Id="rId11" Target="../media/image25.pn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9.png" Type="http://schemas.openxmlformats.org/officeDocument/2006/relationships/image"/><Relationship Id="rId15" Target="../media/image10.svg" Type="http://schemas.openxmlformats.org/officeDocument/2006/relationships/image"/><Relationship Id="rId2" Target="../media/image1.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11" Target="../media/image26.pn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svg" Type="http://schemas.openxmlformats.org/officeDocument/2006/relationships/image"/><Relationship Id="rId11" Target="../media/image27.pn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9.png" Type="http://schemas.openxmlformats.org/officeDocument/2006/relationships/image"/><Relationship Id="rId15" Target="../media/image10.svg" Type="http://schemas.openxmlformats.org/officeDocument/2006/relationships/image"/><Relationship Id="rId2" Target="../media/image1.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4.png" Type="http://schemas.openxmlformats.org/officeDocument/2006/relationships/image"/><Relationship Id="rId12" Target="../media/image5.svg" Type="http://schemas.openxmlformats.org/officeDocument/2006/relationships/image"/><Relationship Id="rId13" Target="../media/image28.png" Type="http://schemas.openxmlformats.org/officeDocument/2006/relationships/image"/><Relationship Id="rId2" Target="../media/image1.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9.png" Type="http://schemas.openxmlformats.org/officeDocument/2006/relationships/image"/><Relationship Id="rId12" Target="../media/image10.svg" Type="http://schemas.openxmlformats.org/officeDocument/2006/relationships/image"/><Relationship Id="rId13" Target="../media/image4.png" Type="http://schemas.openxmlformats.org/officeDocument/2006/relationships/image"/><Relationship Id="rId14" Target="../media/image5.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8.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11" Target="../media/image11.png" Type="http://schemas.openxmlformats.org/officeDocument/2006/relationships/image"/><Relationship Id="rId12" Target="../media/image12.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jpeg" Type="http://schemas.openxmlformats.org/officeDocument/2006/relationships/image"/><Relationship Id="rId9" Target="../media/image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true" flipV="true" rot="0">
            <a:off x="10347897" y="0"/>
            <a:ext cx="9265274" cy="8557744"/>
          </a:xfrm>
          <a:custGeom>
            <a:avLst/>
            <a:gdLst/>
            <a:ahLst/>
            <a:cxnLst/>
            <a:rect r="r" b="b" t="t" l="l"/>
            <a:pathLst>
              <a:path h="8557744" w="9265274">
                <a:moveTo>
                  <a:pt x="9265274" y="8557744"/>
                </a:moveTo>
                <a:lnTo>
                  <a:pt x="0" y="8557744"/>
                </a:lnTo>
                <a:lnTo>
                  <a:pt x="0" y="0"/>
                </a:lnTo>
                <a:lnTo>
                  <a:pt x="9265274" y="0"/>
                </a:lnTo>
                <a:lnTo>
                  <a:pt x="9265274" y="855774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1057633" y="7231550"/>
            <a:ext cx="9494134" cy="3228006"/>
          </a:xfrm>
          <a:custGeom>
            <a:avLst/>
            <a:gdLst/>
            <a:ahLst/>
            <a:cxnLst/>
            <a:rect r="r" b="b" t="t" l="l"/>
            <a:pathLst>
              <a:path h="3228006" w="9494134">
                <a:moveTo>
                  <a:pt x="9494134" y="0"/>
                </a:moveTo>
                <a:lnTo>
                  <a:pt x="0" y="0"/>
                </a:lnTo>
                <a:lnTo>
                  <a:pt x="0" y="3228006"/>
                </a:lnTo>
                <a:lnTo>
                  <a:pt x="9494134" y="3228006"/>
                </a:lnTo>
                <a:lnTo>
                  <a:pt x="9494134"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true" rot="0">
            <a:off x="-62500" y="-395334"/>
            <a:ext cx="1375693" cy="3152629"/>
          </a:xfrm>
          <a:custGeom>
            <a:avLst/>
            <a:gdLst/>
            <a:ahLst/>
            <a:cxnLst/>
            <a:rect r="r" b="b" t="t" l="l"/>
            <a:pathLst>
              <a:path h="3152629" w="1375693">
                <a:moveTo>
                  <a:pt x="0" y="3152629"/>
                </a:moveTo>
                <a:lnTo>
                  <a:pt x="1375692" y="3152629"/>
                </a:lnTo>
                <a:lnTo>
                  <a:pt x="1375692" y="0"/>
                </a:lnTo>
                <a:lnTo>
                  <a:pt x="0" y="0"/>
                </a:lnTo>
                <a:lnTo>
                  <a:pt x="0" y="3152629"/>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525128" y="1020720"/>
            <a:ext cx="737229" cy="737229"/>
          </a:xfrm>
          <a:custGeom>
            <a:avLst/>
            <a:gdLst/>
            <a:ahLst/>
            <a:cxnLst/>
            <a:rect r="r" b="b" t="t" l="l"/>
            <a:pathLst>
              <a:path h="737229" w="737229">
                <a:moveTo>
                  <a:pt x="0" y="0"/>
                </a:moveTo>
                <a:lnTo>
                  <a:pt x="737229" y="0"/>
                </a:lnTo>
                <a:lnTo>
                  <a:pt x="737229" y="737228"/>
                </a:lnTo>
                <a:lnTo>
                  <a:pt x="0" y="737228"/>
                </a:lnTo>
                <a:lnTo>
                  <a:pt x="0" y="0"/>
                </a:lnTo>
                <a:close/>
              </a:path>
            </a:pathLst>
          </a:custGeom>
          <a:blipFill>
            <a:blip r:embed="rId9"/>
            <a:stretch>
              <a:fillRect l="0" t="0" r="0" b="0"/>
            </a:stretch>
          </a:blipFill>
        </p:spPr>
      </p:sp>
      <p:sp>
        <p:nvSpPr>
          <p:cNvPr name="Freeform 7" id="7"/>
          <p:cNvSpPr/>
          <p:nvPr/>
        </p:nvSpPr>
        <p:spPr>
          <a:xfrm flipH="false" flipV="false" rot="0">
            <a:off x="9829620" y="9540464"/>
            <a:ext cx="1956533" cy="238341"/>
          </a:xfrm>
          <a:custGeom>
            <a:avLst/>
            <a:gdLst/>
            <a:ahLst/>
            <a:cxnLst/>
            <a:rect r="r" b="b" t="t" l="l"/>
            <a:pathLst>
              <a:path h="238341" w="1956533">
                <a:moveTo>
                  <a:pt x="0" y="0"/>
                </a:moveTo>
                <a:lnTo>
                  <a:pt x="1956532" y="0"/>
                </a:lnTo>
                <a:lnTo>
                  <a:pt x="1956532" y="238341"/>
                </a:lnTo>
                <a:lnTo>
                  <a:pt x="0" y="238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410437" y="392016"/>
            <a:ext cx="1479619" cy="180244"/>
          </a:xfrm>
          <a:custGeom>
            <a:avLst/>
            <a:gdLst/>
            <a:ahLst/>
            <a:cxnLst/>
            <a:rect r="r" b="b" t="t" l="l"/>
            <a:pathLst>
              <a:path h="180244" w="1479619">
                <a:moveTo>
                  <a:pt x="0" y="0"/>
                </a:moveTo>
                <a:lnTo>
                  <a:pt x="1479619" y="0"/>
                </a:lnTo>
                <a:lnTo>
                  <a:pt x="1479619" y="180245"/>
                </a:lnTo>
                <a:lnTo>
                  <a:pt x="0" y="18024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9982975" y="-798393"/>
            <a:ext cx="1371239" cy="1596785"/>
          </a:xfrm>
          <a:custGeom>
            <a:avLst/>
            <a:gdLst/>
            <a:ahLst/>
            <a:cxnLst/>
            <a:rect r="r" b="b" t="t" l="l"/>
            <a:pathLst>
              <a:path h="1596785" w="1371239">
                <a:moveTo>
                  <a:pt x="0" y="0"/>
                </a:moveTo>
                <a:lnTo>
                  <a:pt x="1371239" y="0"/>
                </a:lnTo>
                <a:lnTo>
                  <a:pt x="1371239" y="1596786"/>
                </a:lnTo>
                <a:lnTo>
                  <a:pt x="0" y="159678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410437" y="9659634"/>
            <a:ext cx="965825" cy="1124687"/>
          </a:xfrm>
          <a:custGeom>
            <a:avLst/>
            <a:gdLst/>
            <a:ahLst/>
            <a:cxnLst/>
            <a:rect r="r" b="b" t="t" l="l"/>
            <a:pathLst>
              <a:path h="1124687" w="965825">
                <a:moveTo>
                  <a:pt x="0" y="0"/>
                </a:moveTo>
                <a:lnTo>
                  <a:pt x="965825" y="0"/>
                </a:lnTo>
                <a:lnTo>
                  <a:pt x="965825" y="1124688"/>
                </a:lnTo>
                <a:lnTo>
                  <a:pt x="0" y="112468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1" id="11"/>
          <p:cNvSpPr txBox="true"/>
          <p:nvPr/>
        </p:nvSpPr>
        <p:spPr>
          <a:xfrm rot="0">
            <a:off x="2465179" y="1151951"/>
            <a:ext cx="4876703" cy="274701"/>
          </a:xfrm>
          <a:prstGeom prst="rect">
            <a:avLst/>
          </a:prstGeom>
        </p:spPr>
        <p:txBody>
          <a:bodyPr anchor="t" rtlCol="false" tIns="0" lIns="0" bIns="0" rIns="0">
            <a:spAutoFit/>
          </a:bodyPr>
          <a:lstStyle/>
          <a:p>
            <a:pPr algn="just" marL="0" indent="0" lvl="0">
              <a:lnSpc>
                <a:spcPts val="2183"/>
              </a:lnSpc>
            </a:pPr>
            <a:r>
              <a:rPr lang="en-US" sz="1559" spc="31">
                <a:solidFill>
                  <a:srgbClr val="000000"/>
                </a:solidFill>
                <a:latin typeface="Poppins"/>
                <a:ea typeface="Poppins"/>
                <a:cs typeface="Poppins"/>
                <a:sym typeface="Poppins"/>
              </a:rPr>
              <a:t>Hands 4 Zero Poverty Trust (H4ZP)</a:t>
            </a:r>
          </a:p>
        </p:txBody>
      </p:sp>
      <p:sp>
        <p:nvSpPr>
          <p:cNvPr name="TextBox 12" id="12"/>
          <p:cNvSpPr txBox="true"/>
          <p:nvPr/>
        </p:nvSpPr>
        <p:spPr>
          <a:xfrm rot="0">
            <a:off x="1557173" y="3301222"/>
            <a:ext cx="7754548" cy="2781300"/>
          </a:xfrm>
          <a:prstGeom prst="rect">
            <a:avLst/>
          </a:prstGeom>
        </p:spPr>
        <p:txBody>
          <a:bodyPr anchor="t" rtlCol="false" tIns="0" lIns="0" bIns="0" rIns="0">
            <a:spAutoFit/>
          </a:bodyPr>
          <a:lstStyle/>
          <a:p>
            <a:pPr algn="l" marL="0" indent="0" lvl="0">
              <a:lnSpc>
                <a:spcPts val="10125"/>
              </a:lnSpc>
            </a:pPr>
            <a:r>
              <a:rPr lang="en-US" sz="11250">
                <a:solidFill>
                  <a:srgbClr val="000000"/>
                </a:solidFill>
                <a:latin typeface="Poppins"/>
                <a:ea typeface="Poppins"/>
                <a:cs typeface="Poppins"/>
                <a:sym typeface="Poppins"/>
              </a:rPr>
              <a:t>INTERNSHIP REPORT</a:t>
            </a:r>
          </a:p>
        </p:txBody>
      </p:sp>
      <p:sp>
        <p:nvSpPr>
          <p:cNvPr name="TextBox 13" id="13"/>
          <p:cNvSpPr txBox="true"/>
          <p:nvPr/>
        </p:nvSpPr>
        <p:spPr>
          <a:xfrm rot="0">
            <a:off x="1557173" y="6025413"/>
            <a:ext cx="7754548" cy="970535"/>
          </a:xfrm>
          <a:prstGeom prst="rect">
            <a:avLst/>
          </a:prstGeom>
        </p:spPr>
        <p:txBody>
          <a:bodyPr anchor="t" rtlCol="false" tIns="0" lIns="0" bIns="0" rIns="0">
            <a:spAutoFit/>
          </a:bodyPr>
          <a:lstStyle/>
          <a:p>
            <a:pPr algn="l" marL="0" indent="0" lvl="0">
              <a:lnSpc>
                <a:spcPts val="3576"/>
              </a:lnSpc>
            </a:pPr>
            <a:r>
              <a:rPr lang="en-US" b="true" sz="3973" i="true">
                <a:solidFill>
                  <a:srgbClr val="D67938"/>
                </a:solidFill>
                <a:latin typeface="Poppins Bold Italics"/>
                <a:ea typeface="Poppins Bold Italics"/>
                <a:cs typeface="Poppins Bold Italics"/>
                <a:sym typeface="Poppins Bold Italics"/>
              </a:rPr>
              <a:t>Digital Documentation &amp; Record Management Support</a:t>
            </a:r>
          </a:p>
        </p:txBody>
      </p:sp>
      <p:sp>
        <p:nvSpPr>
          <p:cNvPr name="TextBox 14" id="14"/>
          <p:cNvSpPr txBox="true"/>
          <p:nvPr/>
        </p:nvSpPr>
        <p:spPr>
          <a:xfrm rot="0">
            <a:off x="1557173" y="8554775"/>
            <a:ext cx="3016871" cy="207645"/>
          </a:xfrm>
          <a:prstGeom prst="rect">
            <a:avLst/>
          </a:prstGeom>
        </p:spPr>
        <p:txBody>
          <a:bodyPr anchor="t" rtlCol="false" tIns="0" lIns="0" bIns="0" rIns="0">
            <a:spAutoFit/>
          </a:bodyPr>
          <a:lstStyle/>
          <a:p>
            <a:pPr algn="l" marL="0" indent="0" lvl="0">
              <a:lnSpc>
                <a:spcPts val="1679"/>
              </a:lnSpc>
            </a:pPr>
            <a:r>
              <a:rPr lang="en-US" sz="1200">
                <a:solidFill>
                  <a:srgbClr val="000000"/>
                </a:solidFill>
                <a:latin typeface="Poppins"/>
                <a:ea typeface="Poppins"/>
                <a:cs typeface="Poppins"/>
                <a:sym typeface="Poppins"/>
              </a:rPr>
              <a:t>Presented By:</a:t>
            </a:r>
          </a:p>
        </p:txBody>
      </p:sp>
      <p:sp>
        <p:nvSpPr>
          <p:cNvPr name="TextBox 15" id="15"/>
          <p:cNvSpPr txBox="true"/>
          <p:nvPr/>
        </p:nvSpPr>
        <p:spPr>
          <a:xfrm rot="0">
            <a:off x="5435003" y="8554775"/>
            <a:ext cx="3016871" cy="207645"/>
          </a:xfrm>
          <a:prstGeom prst="rect">
            <a:avLst/>
          </a:prstGeom>
        </p:spPr>
        <p:txBody>
          <a:bodyPr anchor="t" rtlCol="false" tIns="0" lIns="0" bIns="0" rIns="0">
            <a:spAutoFit/>
          </a:bodyPr>
          <a:lstStyle/>
          <a:p>
            <a:pPr algn="l" marL="0" indent="0" lvl="0">
              <a:lnSpc>
                <a:spcPts val="1679"/>
              </a:lnSpc>
            </a:pPr>
            <a:r>
              <a:rPr lang="en-US" sz="1200">
                <a:solidFill>
                  <a:srgbClr val="000000"/>
                </a:solidFill>
                <a:latin typeface="Poppins"/>
                <a:ea typeface="Poppins"/>
                <a:cs typeface="Poppins"/>
                <a:sym typeface="Poppins"/>
              </a:rPr>
              <a:t>Duration:</a:t>
            </a:r>
          </a:p>
        </p:txBody>
      </p:sp>
      <p:sp>
        <p:nvSpPr>
          <p:cNvPr name="TextBox 16" id="16"/>
          <p:cNvSpPr txBox="true"/>
          <p:nvPr/>
        </p:nvSpPr>
        <p:spPr>
          <a:xfrm rot="0">
            <a:off x="1557173" y="8845587"/>
            <a:ext cx="3397216" cy="771525"/>
          </a:xfrm>
          <a:prstGeom prst="rect">
            <a:avLst/>
          </a:prstGeom>
        </p:spPr>
        <p:txBody>
          <a:bodyPr anchor="t" rtlCol="false" tIns="0" lIns="0" bIns="0" rIns="0">
            <a:spAutoFit/>
          </a:bodyPr>
          <a:lstStyle/>
          <a:p>
            <a:pPr algn="l" marL="0" indent="0" lvl="0">
              <a:lnSpc>
                <a:spcPts val="2099"/>
              </a:lnSpc>
            </a:pPr>
            <a:r>
              <a:rPr lang="en-US" b="true" sz="1499">
                <a:solidFill>
                  <a:srgbClr val="000000"/>
                </a:solidFill>
                <a:latin typeface="Poppins Medium"/>
                <a:ea typeface="Poppins Medium"/>
                <a:cs typeface="Poppins Medium"/>
                <a:sym typeface="Poppins Medium"/>
              </a:rPr>
              <a:t>Trijal Singh | Roll No. 25SCS1003002647</a:t>
            </a:r>
          </a:p>
          <a:p>
            <a:pPr algn="l" marL="0" indent="0" lvl="0">
              <a:lnSpc>
                <a:spcPts val="2099"/>
              </a:lnSpc>
            </a:pPr>
            <a:r>
              <a:rPr lang="en-US" b="true" sz="1499">
                <a:solidFill>
                  <a:srgbClr val="000000"/>
                </a:solidFill>
                <a:latin typeface="Poppins Medium"/>
                <a:ea typeface="Poppins Medium"/>
                <a:cs typeface="Poppins Medium"/>
                <a:sym typeface="Poppins Medium"/>
              </a:rPr>
              <a:t>B.Tech CSE (AI &amp; ML), IILM University</a:t>
            </a:r>
          </a:p>
        </p:txBody>
      </p:sp>
      <p:sp>
        <p:nvSpPr>
          <p:cNvPr name="TextBox 17" id="17"/>
          <p:cNvSpPr txBox="true"/>
          <p:nvPr/>
        </p:nvSpPr>
        <p:spPr>
          <a:xfrm rot="0">
            <a:off x="5435003" y="8845587"/>
            <a:ext cx="3016871" cy="257175"/>
          </a:xfrm>
          <a:prstGeom prst="rect">
            <a:avLst/>
          </a:prstGeom>
        </p:spPr>
        <p:txBody>
          <a:bodyPr anchor="t" rtlCol="false" tIns="0" lIns="0" bIns="0" rIns="0">
            <a:spAutoFit/>
          </a:bodyPr>
          <a:lstStyle/>
          <a:p>
            <a:pPr algn="l" marL="0" indent="0" lvl="0">
              <a:lnSpc>
                <a:spcPts val="2099"/>
              </a:lnSpc>
            </a:pPr>
            <a:r>
              <a:rPr lang="en-US" b="true" sz="1499">
                <a:solidFill>
                  <a:srgbClr val="000000"/>
                </a:solidFill>
                <a:latin typeface="Poppins Medium"/>
                <a:ea typeface="Poppins Medium"/>
                <a:cs typeface="Poppins Medium"/>
                <a:sym typeface="Poppins Medium"/>
              </a:rPr>
              <a:t>10 June 2026 – 10 July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16666" r="0" b="-16666"/>
            </a:stretch>
          </a:blipFill>
        </p:spPr>
      </p:sp>
      <p:sp>
        <p:nvSpPr>
          <p:cNvPr name="Freeform 3" id="3"/>
          <p:cNvSpPr/>
          <p:nvPr/>
        </p:nvSpPr>
        <p:spPr>
          <a:xfrm flipH="true" flipV="false" rot="0">
            <a:off x="-344893" y="7867996"/>
            <a:ext cx="7048500" cy="3716482"/>
          </a:xfrm>
          <a:custGeom>
            <a:avLst/>
            <a:gdLst/>
            <a:ahLst/>
            <a:cxnLst/>
            <a:rect r="r" b="b" t="t" l="l"/>
            <a:pathLst>
              <a:path h="3716482" w="7048500">
                <a:moveTo>
                  <a:pt x="7048500" y="0"/>
                </a:moveTo>
                <a:lnTo>
                  <a:pt x="0" y="0"/>
                </a:lnTo>
                <a:lnTo>
                  <a:pt x="0" y="3716482"/>
                </a:lnTo>
                <a:lnTo>
                  <a:pt x="7048500" y="3716482"/>
                </a:lnTo>
                <a:lnTo>
                  <a:pt x="70485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descr="Bold Colorful Memphis Horizontal Repeating Lined Cross"/>
          <p:cNvSpPr/>
          <p:nvPr/>
        </p:nvSpPr>
        <p:spPr>
          <a:xfrm flipH="false" flipV="false" rot="0">
            <a:off x="796255" y="9258300"/>
            <a:ext cx="1956533" cy="238341"/>
          </a:xfrm>
          <a:custGeom>
            <a:avLst/>
            <a:gdLst/>
            <a:ahLst/>
            <a:cxnLst/>
            <a:rect r="r" b="b" t="t" l="l"/>
            <a:pathLst>
              <a:path h="238341" w="1956533">
                <a:moveTo>
                  <a:pt x="0" y="0"/>
                </a:moveTo>
                <a:lnTo>
                  <a:pt x="1956533" y="0"/>
                </a:lnTo>
                <a:lnTo>
                  <a:pt x="1956533" y="238341"/>
                </a:lnTo>
                <a:lnTo>
                  <a:pt x="0" y="2383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descr="Black Dotted Circle Recolorable Outline"/>
          <p:cNvSpPr/>
          <p:nvPr/>
        </p:nvSpPr>
        <p:spPr>
          <a:xfrm flipH="false" flipV="false" rot="0">
            <a:off x="-427906" y="191898"/>
            <a:ext cx="1050318" cy="1223078"/>
          </a:xfrm>
          <a:custGeom>
            <a:avLst/>
            <a:gdLst/>
            <a:ahLst/>
            <a:cxnLst/>
            <a:rect r="r" b="b" t="t" l="l"/>
            <a:pathLst>
              <a:path h="1223078" w="1050318">
                <a:moveTo>
                  <a:pt x="0" y="0"/>
                </a:moveTo>
                <a:lnTo>
                  <a:pt x="1050319" y="0"/>
                </a:lnTo>
                <a:lnTo>
                  <a:pt x="1050319" y="1223078"/>
                </a:lnTo>
                <a:lnTo>
                  <a:pt x="0" y="12230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descr="Black Dotted Circle Recolorable Outline"/>
          <p:cNvSpPr/>
          <p:nvPr/>
        </p:nvSpPr>
        <p:spPr>
          <a:xfrm flipH="false" flipV="false" rot="0">
            <a:off x="16590680" y="9659634"/>
            <a:ext cx="965825" cy="1124687"/>
          </a:xfrm>
          <a:custGeom>
            <a:avLst/>
            <a:gdLst/>
            <a:ahLst/>
            <a:cxnLst/>
            <a:rect r="r" b="b" t="t" l="l"/>
            <a:pathLst>
              <a:path h="1124687" w="965825">
                <a:moveTo>
                  <a:pt x="0" y="0"/>
                </a:moveTo>
                <a:lnTo>
                  <a:pt x="965825" y="0"/>
                </a:lnTo>
                <a:lnTo>
                  <a:pt x="965825" y="1124688"/>
                </a:lnTo>
                <a:lnTo>
                  <a:pt x="0" y="112468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1633824" y="3886834"/>
            <a:ext cx="3388048" cy="4359851"/>
            <a:chOff x="0" y="0"/>
            <a:chExt cx="3133810" cy="4032689"/>
          </a:xfrm>
        </p:grpSpPr>
        <p:sp>
          <p:nvSpPr>
            <p:cNvPr name="Freeform 8" id="8"/>
            <p:cNvSpPr/>
            <p:nvPr/>
          </p:nvSpPr>
          <p:spPr>
            <a:xfrm flipH="false" flipV="false" rot="0">
              <a:off x="0" y="0"/>
              <a:ext cx="3133810" cy="4032690"/>
            </a:xfrm>
            <a:custGeom>
              <a:avLst/>
              <a:gdLst/>
              <a:ahLst/>
              <a:cxnLst/>
              <a:rect r="r" b="b" t="t" l="l"/>
              <a:pathLst>
                <a:path h="4032690" w="3133810">
                  <a:moveTo>
                    <a:pt x="3009350" y="4032689"/>
                  </a:moveTo>
                  <a:lnTo>
                    <a:pt x="124460" y="4032689"/>
                  </a:lnTo>
                  <a:cubicBezTo>
                    <a:pt x="55880" y="4032689"/>
                    <a:pt x="0" y="3976809"/>
                    <a:pt x="0" y="3908229"/>
                  </a:cubicBezTo>
                  <a:lnTo>
                    <a:pt x="0" y="124460"/>
                  </a:lnTo>
                  <a:cubicBezTo>
                    <a:pt x="0" y="55880"/>
                    <a:pt x="55880" y="0"/>
                    <a:pt x="124460" y="0"/>
                  </a:cubicBezTo>
                  <a:lnTo>
                    <a:pt x="3009350" y="0"/>
                  </a:lnTo>
                  <a:cubicBezTo>
                    <a:pt x="3077930" y="0"/>
                    <a:pt x="3133810" y="55880"/>
                    <a:pt x="3133810" y="124460"/>
                  </a:cubicBezTo>
                  <a:lnTo>
                    <a:pt x="3133810" y="3908229"/>
                  </a:lnTo>
                  <a:cubicBezTo>
                    <a:pt x="3133810" y="3976809"/>
                    <a:pt x="3077930" y="4032690"/>
                    <a:pt x="3009350" y="4032690"/>
                  </a:cubicBezTo>
                  <a:close/>
                </a:path>
              </a:pathLst>
            </a:custGeom>
            <a:gradFill rotWithShape="true">
              <a:gsLst>
                <a:gs pos="0">
                  <a:srgbClr val="F89D5B">
                    <a:alpha val="100000"/>
                  </a:srgbClr>
                </a:gs>
                <a:gs pos="100000">
                  <a:srgbClr val="D67938">
                    <a:alpha val="100000"/>
                  </a:srgbClr>
                </a:gs>
              </a:gsLst>
              <a:lin ang="0"/>
            </a:gradFill>
          </p:spPr>
        </p:sp>
      </p:grpSp>
      <p:grpSp>
        <p:nvGrpSpPr>
          <p:cNvPr name="Group 9" id="9"/>
          <p:cNvGrpSpPr/>
          <p:nvPr/>
        </p:nvGrpSpPr>
        <p:grpSpPr>
          <a:xfrm rot="0">
            <a:off x="9304032" y="3886834"/>
            <a:ext cx="3388048" cy="4359851"/>
            <a:chOff x="0" y="0"/>
            <a:chExt cx="3133810" cy="4032689"/>
          </a:xfrm>
        </p:grpSpPr>
        <p:sp>
          <p:nvSpPr>
            <p:cNvPr name="Freeform 10" id="10"/>
            <p:cNvSpPr/>
            <p:nvPr/>
          </p:nvSpPr>
          <p:spPr>
            <a:xfrm flipH="false" flipV="false" rot="0">
              <a:off x="0" y="0"/>
              <a:ext cx="3133810" cy="4032690"/>
            </a:xfrm>
            <a:custGeom>
              <a:avLst/>
              <a:gdLst/>
              <a:ahLst/>
              <a:cxnLst/>
              <a:rect r="r" b="b" t="t" l="l"/>
              <a:pathLst>
                <a:path h="4032690" w="3133810">
                  <a:moveTo>
                    <a:pt x="3009350" y="4032689"/>
                  </a:moveTo>
                  <a:lnTo>
                    <a:pt x="124460" y="4032689"/>
                  </a:lnTo>
                  <a:cubicBezTo>
                    <a:pt x="55880" y="4032689"/>
                    <a:pt x="0" y="3976809"/>
                    <a:pt x="0" y="3908229"/>
                  </a:cubicBezTo>
                  <a:lnTo>
                    <a:pt x="0" y="124460"/>
                  </a:lnTo>
                  <a:cubicBezTo>
                    <a:pt x="0" y="55880"/>
                    <a:pt x="55880" y="0"/>
                    <a:pt x="124460" y="0"/>
                  </a:cubicBezTo>
                  <a:lnTo>
                    <a:pt x="3009350" y="0"/>
                  </a:lnTo>
                  <a:cubicBezTo>
                    <a:pt x="3077930" y="0"/>
                    <a:pt x="3133810" y="55880"/>
                    <a:pt x="3133810" y="124460"/>
                  </a:cubicBezTo>
                  <a:lnTo>
                    <a:pt x="3133810" y="3908229"/>
                  </a:lnTo>
                  <a:cubicBezTo>
                    <a:pt x="3133810" y="3976809"/>
                    <a:pt x="3077930" y="4032690"/>
                    <a:pt x="3009350" y="4032690"/>
                  </a:cubicBezTo>
                  <a:close/>
                </a:path>
              </a:pathLst>
            </a:custGeom>
            <a:gradFill rotWithShape="true">
              <a:gsLst>
                <a:gs pos="0">
                  <a:srgbClr val="F89D5B">
                    <a:alpha val="100000"/>
                  </a:srgbClr>
                </a:gs>
                <a:gs pos="100000">
                  <a:srgbClr val="D67938">
                    <a:alpha val="100000"/>
                  </a:srgbClr>
                </a:gs>
              </a:gsLst>
              <a:lin ang="0"/>
            </a:gradFill>
          </p:spPr>
        </p:sp>
      </p:grpSp>
      <p:grpSp>
        <p:nvGrpSpPr>
          <p:cNvPr name="Group 11" id="11"/>
          <p:cNvGrpSpPr/>
          <p:nvPr/>
        </p:nvGrpSpPr>
        <p:grpSpPr>
          <a:xfrm rot="0">
            <a:off x="13139136" y="3886834"/>
            <a:ext cx="3388048" cy="4359851"/>
            <a:chOff x="0" y="0"/>
            <a:chExt cx="3133810" cy="4032689"/>
          </a:xfrm>
        </p:grpSpPr>
        <p:sp>
          <p:nvSpPr>
            <p:cNvPr name="Freeform 12" id="12"/>
            <p:cNvSpPr/>
            <p:nvPr/>
          </p:nvSpPr>
          <p:spPr>
            <a:xfrm flipH="false" flipV="false" rot="0">
              <a:off x="0" y="0"/>
              <a:ext cx="3133810" cy="4032690"/>
            </a:xfrm>
            <a:custGeom>
              <a:avLst/>
              <a:gdLst/>
              <a:ahLst/>
              <a:cxnLst/>
              <a:rect r="r" b="b" t="t" l="l"/>
              <a:pathLst>
                <a:path h="4032690" w="3133810">
                  <a:moveTo>
                    <a:pt x="3009350" y="4032689"/>
                  </a:moveTo>
                  <a:lnTo>
                    <a:pt x="124460" y="4032689"/>
                  </a:lnTo>
                  <a:cubicBezTo>
                    <a:pt x="55880" y="4032689"/>
                    <a:pt x="0" y="3976809"/>
                    <a:pt x="0" y="3908229"/>
                  </a:cubicBezTo>
                  <a:lnTo>
                    <a:pt x="0" y="124460"/>
                  </a:lnTo>
                  <a:cubicBezTo>
                    <a:pt x="0" y="55880"/>
                    <a:pt x="55880" y="0"/>
                    <a:pt x="124460" y="0"/>
                  </a:cubicBezTo>
                  <a:lnTo>
                    <a:pt x="3009350" y="0"/>
                  </a:lnTo>
                  <a:cubicBezTo>
                    <a:pt x="3077930" y="0"/>
                    <a:pt x="3133810" y="55880"/>
                    <a:pt x="3133810" y="124460"/>
                  </a:cubicBezTo>
                  <a:lnTo>
                    <a:pt x="3133810" y="3908229"/>
                  </a:lnTo>
                  <a:cubicBezTo>
                    <a:pt x="3133810" y="3976809"/>
                    <a:pt x="3077930" y="4032690"/>
                    <a:pt x="3009350" y="4032690"/>
                  </a:cubicBezTo>
                  <a:close/>
                </a:path>
              </a:pathLst>
            </a:custGeom>
            <a:gradFill rotWithShape="true">
              <a:gsLst>
                <a:gs pos="0">
                  <a:srgbClr val="F89D5B">
                    <a:alpha val="100000"/>
                  </a:srgbClr>
                </a:gs>
                <a:gs pos="100000">
                  <a:srgbClr val="D67938">
                    <a:alpha val="100000"/>
                  </a:srgbClr>
                </a:gs>
              </a:gsLst>
              <a:lin ang="0"/>
            </a:gradFill>
          </p:spPr>
        </p:sp>
      </p:grpSp>
      <p:grpSp>
        <p:nvGrpSpPr>
          <p:cNvPr name="Group 13" id="13"/>
          <p:cNvGrpSpPr/>
          <p:nvPr/>
        </p:nvGrpSpPr>
        <p:grpSpPr>
          <a:xfrm rot="0">
            <a:off x="5468928" y="3886834"/>
            <a:ext cx="3388048" cy="4359851"/>
            <a:chOff x="0" y="0"/>
            <a:chExt cx="3133810" cy="4032689"/>
          </a:xfrm>
        </p:grpSpPr>
        <p:sp>
          <p:nvSpPr>
            <p:cNvPr name="Freeform 14" id="14"/>
            <p:cNvSpPr/>
            <p:nvPr/>
          </p:nvSpPr>
          <p:spPr>
            <a:xfrm flipH="false" flipV="false" rot="0">
              <a:off x="0" y="0"/>
              <a:ext cx="3133810" cy="4032690"/>
            </a:xfrm>
            <a:custGeom>
              <a:avLst/>
              <a:gdLst/>
              <a:ahLst/>
              <a:cxnLst/>
              <a:rect r="r" b="b" t="t" l="l"/>
              <a:pathLst>
                <a:path h="4032690" w="3133810">
                  <a:moveTo>
                    <a:pt x="3009350" y="4032689"/>
                  </a:moveTo>
                  <a:lnTo>
                    <a:pt x="124460" y="4032689"/>
                  </a:lnTo>
                  <a:cubicBezTo>
                    <a:pt x="55880" y="4032689"/>
                    <a:pt x="0" y="3976809"/>
                    <a:pt x="0" y="3908229"/>
                  </a:cubicBezTo>
                  <a:lnTo>
                    <a:pt x="0" y="124460"/>
                  </a:lnTo>
                  <a:cubicBezTo>
                    <a:pt x="0" y="55880"/>
                    <a:pt x="55880" y="0"/>
                    <a:pt x="124460" y="0"/>
                  </a:cubicBezTo>
                  <a:lnTo>
                    <a:pt x="3009350" y="0"/>
                  </a:lnTo>
                  <a:cubicBezTo>
                    <a:pt x="3077930" y="0"/>
                    <a:pt x="3133810" y="55880"/>
                    <a:pt x="3133810" y="124460"/>
                  </a:cubicBezTo>
                  <a:lnTo>
                    <a:pt x="3133810" y="3908229"/>
                  </a:lnTo>
                  <a:cubicBezTo>
                    <a:pt x="3133810" y="3976809"/>
                    <a:pt x="3077930" y="4032690"/>
                    <a:pt x="3009350" y="4032690"/>
                  </a:cubicBezTo>
                  <a:close/>
                </a:path>
              </a:pathLst>
            </a:custGeom>
            <a:gradFill rotWithShape="true">
              <a:gsLst>
                <a:gs pos="0">
                  <a:srgbClr val="F89D5B">
                    <a:alpha val="100000"/>
                  </a:srgbClr>
                </a:gs>
                <a:gs pos="100000">
                  <a:srgbClr val="D67938">
                    <a:alpha val="100000"/>
                  </a:srgbClr>
                </a:gs>
              </a:gsLst>
              <a:lin ang="0"/>
            </a:gradFill>
          </p:spPr>
        </p:sp>
      </p:grpSp>
      <p:sp>
        <p:nvSpPr>
          <p:cNvPr name="TextBox 15" id="15"/>
          <p:cNvSpPr txBox="true"/>
          <p:nvPr/>
        </p:nvSpPr>
        <p:spPr>
          <a:xfrm rot="0">
            <a:off x="2021039" y="6631490"/>
            <a:ext cx="2715079" cy="1300163"/>
          </a:xfrm>
          <a:prstGeom prst="rect">
            <a:avLst/>
          </a:prstGeom>
        </p:spPr>
        <p:txBody>
          <a:bodyPr anchor="t" rtlCol="false" tIns="0" lIns="0" bIns="0" rIns="0">
            <a:spAutoFit/>
          </a:bodyPr>
          <a:lstStyle/>
          <a:p>
            <a:pPr algn="l" marL="0" indent="0" lvl="0">
              <a:lnSpc>
                <a:spcPts val="3412"/>
              </a:lnSpc>
              <a:spcBef>
                <a:spcPct val="0"/>
              </a:spcBef>
            </a:pPr>
            <a:r>
              <a:rPr lang="en-US" sz="2625" spc="52">
                <a:solidFill>
                  <a:srgbClr val="000000"/>
                </a:solidFill>
                <a:latin typeface="Poppins"/>
                <a:ea typeface="Poppins"/>
                <a:cs typeface="Poppins"/>
                <a:sym typeface="Poppins"/>
              </a:rPr>
              <a:t>Internship Context &amp; Background</a:t>
            </a:r>
          </a:p>
        </p:txBody>
      </p:sp>
      <p:sp>
        <p:nvSpPr>
          <p:cNvPr name="TextBox 16" id="16"/>
          <p:cNvSpPr txBox="true"/>
          <p:nvPr/>
        </p:nvSpPr>
        <p:spPr>
          <a:xfrm rot="0">
            <a:off x="2021039" y="4120127"/>
            <a:ext cx="731749" cy="530352"/>
          </a:xfrm>
          <a:prstGeom prst="rect">
            <a:avLst/>
          </a:prstGeom>
        </p:spPr>
        <p:txBody>
          <a:bodyPr anchor="t" rtlCol="false" tIns="0" lIns="0" bIns="0" rIns="0">
            <a:spAutoFit/>
          </a:bodyPr>
          <a:lstStyle/>
          <a:p>
            <a:pPr algn="l" marL="0" indent="0" lvl="0">
              <a:lnSpc>
                <a:spcPts val="4239"/>
              </a:lnSpc>
              <a:spcBef>
                <a:spcPct val="0"/>
              </a:spcBef>
            </a:pPr>
            <a:r>
              <a:rPr lang="en-US" b="true" sz="2700" spc="54" u="none">
                <a:solidFill>
                  <a:srgbClr val="000000"/>
                </a:solidFill>
                <a:latin typeface="Poppins Semi-Bold"/>
                <a:ea typeface="Poppins Semi-Bold"/>
                <a:cs typeface="Poppins Semi-Bold"/>
                <a:sym typeface="Poppins Semi-Bold"/>
              </a:rPr>
              <a:t>01</a:t>
            </a:r>
          </a:p>
        </p:txBody>
      </p:sp>
      <p:sp>
        <p:nvSpPr>
          <p:cNvPr name="TextBox 17" id="17"/>
          <p:cNvSpPr txBox="true"/>
          <p:nvPr/>
        </p:nvSpPr>
        <p:spPr>
          <a:xfrm rot="0">
            <a:off x="9691247" y="6631490"/>
            <a:ext cx="2715079" cy="1300163"/>
          </a:xfrm>
          <a:prstGeom prst="rect">
            <a:avLst/>
          </a:prstGeom>
        </p:spPr>
        <p:txBody>
          <a:bodyPr anchor="t" rtlCol="false" tIns="0" lIns="0" bIns="0" rIns="0">
            <a:spAutoFit/>
          </a:bodyPr>
          <a:lstStyle/>
          <a:p>
            <a:pPr algn="l" marL="0" indent="0" lvl="0">
              <a:lnSpc>
                <a:spcPts val="3412"/>
              </a:lnSpc>
              <a:spcBef>
                <a:spcPct val="0"/>
              </a:spcBef>
            </a:pPr>
            <a:r>
              <a:rPr lang="en-US" sz="2625" spc="52">
                <a:solidFill>
                  <a:srgbClr val="000000"/>
                </a:solidFill>
                <a:latin typeface="Poppins"/>
                <a:ea typeface="Poppins"/>
                <a:cs typeface="Poppins"/>
                <a:sym typeface="Poppins"/>
              </a:rPr>
              <a:t>Digital Documentation Workflow</a:t>
            </a:r>
          </a:p>
        </p:txBody>
      </p:sp>
      <p:sp>
        <p:nvSpPr>
          <p:cNvPr name="TextBox 18" id="18"/>
          <p:cNvSpPr txBox="true"/>
          <p:nvPr/>
        </p:nvSpPr>
        <p:spPr>
          <a:xfrm rot="0">
            <a:off x="9691247" y="4120127"/>
            <a:ext cx="731749" cy="530352"/>
          </a:xfrm>
          <a:prstGeom prst="rect">
            <a:avLst/>
          </a:prstGeom>
        </p:spPr>
        <p:txBody>
          <a:bodyPr anchor="t" rtlCol="false" tIns="0" lIns="0" bIns="0" rIns="0">
            <a:spAutoFit/>
          </a:bodyPr>
          <a:lstStyle/>
          <a:p>
            <a:pPr algn="l" marL="0" indent="0" lvl="0">
              <a:lnSpc>
                <a:spcPts val="4239"/>
              </a:lnSpc>
              <a:spcBef>
                <a:spcPct val="0"/>
              </a:spcBef>
            </a:pPr>
            <a:r>
              <a:rPr lang="en-US" b="true" sz="2700" spc="54" u="none">
                <a:solidFill>
                  <a:srgbClr val="000000"/>
                </a:solidFill>
                <a:latin typeface="Poppins Semi-Bold"/>
                <a:ea typeface="Poppins Semi-Bold"/>
                <a:cs typeface="Poppins Semi-Bold"/>
                <a:sym typeface="Poppins Semi-Bold"/>
              </a:rPr>
              <a:t>03</a:t>
            </a:r>
          </a:p>
        </p:txBody>
      </p:sp>
      <p:sp>
        <p:nvSpPr>
          <p:cNvPr name="TextBox 19" id="19"/>
          <p:cNvSpPr txBox="true"/>
          <p:nvPr/>
        </p:nvSpPr>
        <p:spPr>
          <a:xfrm rot="0">
            <a:off x="13526351" y="6631490"/>
            <a:ext cx="2683331" cy="1300163"/>
          </a:xfrm>
          <a:prstGeom prst="rect">
            <a:avLst/>
          </a:prstGeom>
        </p:spPr>
        <p:txBody>
          <a:bodyPr anchor="t" rtlCol="false" tIns="0" lIns="0" bIns="0" rIns="0">
            <a:spAutoFit/>
          </a:bodyPr>
          <a:lstStyle/>
          <a:p>
            <a:pPr algn="l" marL="0" indent="0" lvl="0">
              <a:lnSpc>
                <a:spcPts val="3412"/>
              </a:lnSpc>
              <a:spcBef>
                <a:spcPct val="0"/>
              </a:spcBef>
            </a:pPr>
            <a:r>
              <a:rPr lang="en-US" sz="2625" spc="52">
                <a:solidFill>
                  <a:srgbClr val="000000"/>
                </a:solidFill>
                <a:latin typeface="Poppins"/>
                <a:ea typeface="Poppins"/>
                <a:cs typeface="Poppins"/>
                <a:sym typeface="Poppins"/>
              </a:rPr>
              <a:t>Technical Learning &amp; Improvements</a:t>
            </a:r>
          </a:p>
        </p:txBody>
      </p:sp>
      <p:sp>
        <p:nvSpPr>
          <p:cNvPr name="TextBox 20" id="20"/>
          <p:cNvSpPr txBox="true"/>
          <p:nvPr/>
        </p:nvSpPr>
        <p:spPr>
          <a:xfrm rot="0">
            <a:off x="13634182" y="4120127"/>
            <a:ext cx="731749" cy="530352"/>
          </a:xfrm>
          <a:prstGeom prst="rect">
            <a:avLst/>
          </a:prstGeom>
        </p:spPr>
        <p:txBody>
          <a:bodyPr anchor="t" rtlCol="false" tIns="0" lIns="0" bIns="0" rIns="0">
            <a:spAutoFit/>
          </a:bodyPr>
          <a:lstStyle/>
          <a:p>
            <a:pPr algn="l" marL="0" indent="0" lvl="0">
              <a:lnSpc>
                <a:spcPts val="4239"/>
              </a:lnSpc>
              <a:spcBef>
                <a:spcPct val="0"/>
              </a:spcBef>
            </a:pPr>
            <a:r>
              <a:rPr lang="en-US" b="true" sz="2700" spc="54" u="none">
                <a:solidFill>
                  <a:srgbClr val="000000"/>
                </a:solidFill>
                <a:latin typeface="Poppins Semi-Bold"/>
                <a:ea typeface="Poppins Semi-Bold"/>
                <a:cs typeface="Poppins Semi-Bold"/>
                <a:sym typeface="Poppins Semi-Bold"/>
              </a:rPr>
              <a:t>04</a:t>
            </a:r>
          </a:p>
        </p:txBody>
      </p:sp>
      <p:sp>
        <p:nvSpPr>
          <p:cNvPr name="TextBox 21" id="21"/>
          <p:cNvSpPr txBox="true"/>
          <p:nvPr/>
        </p:nvSpPr>
        <p:spPr>
          <a:xfrm rot="0">
            <a:off x="5856143" y="6631490"/>
            <a:ext cx="2715079" cy="1300163"/>
          </a:xfrm>
          <a:prstGeom prst="rect">
            <a:avLst/>
          </a:prstGeom>
        </p:spPr>
        <p:txBody>
          <a:bodyPr anchor="t" rtlCol="false" tIns="0" lIns="0" bIns="0" rIns="0">
            <a:spAutoFit/>
          </a:bodyPr>
          <a:lstStyle/>
          <a:p>
            <a:pPr algn="l" marL="0" indent="0" lvl="0">
              <a:lnSpc>
                <a:spcPts val="3412"/>
              </a:lnSpc>
              <a:spcBef>
                <a:spcPct val="0"/>
              </a:spcBef>
            </a:pPr>
            <a:r>
              <a:rPr lang="en-US" sz="2625" spc="52">
                <a:solidFill>
                  <a:srgbClr val="000000"/>
                </a:solidFill>
                <a:latin typeface="Poppins"/>
                <a:ea typeface="Poppins"/>
                <a:cs typeface="Poppins"/>
                <a:sym typeface="Poppins"/>
              </a:rPr>
              <a:t>H4ZP Organization Overview</a:t>
            </a:r>
          </a:p>
        </p:txBody>
      </p:sp>
      <p:sp>
        <p:nvSpPr>
          <p:cNvPr name="TextBox 22" id="22"/>
          <p:cNvSpPr txBox="true"/>
          <p:nvPr/>
        </p:nvSpPr>
        <p:spPr>
          <a:xfrm rot="0">
            <a:off x="5856143" y="4120127"/>
            <a:ext cx="731749" cy="530352"/>
          </a:xfrm>
          <a:prstGeom prst="rect">
            <a:avLst/>
          </a:prstGeom>
        </p:spPr>
        <p:txBody>
          <a:bodyPr anchor="t" rtlCol="false" tIns="0" lIns="0" bIns="0" rIns="0">
            <a:spAutoFit/>
          </a:bodyPr>
          <a:lstStyle/>
          <a:p>
            <a:pPr algn="l" marL="0" indent="0" lvl="0">
              <a:lnSpc>
                <a:spcPts val="4239"/>
              </a:lnSpc>
              <a:spcBef>
                <a:spcPct val="0"/>
              </a:spcBef>
            </a:pPr>
            <a:r>
              <a:rPr lang="en-US" b="true" sz="2700" spc="54" u="none">
                <a:solidFill>
                  <a:srgbClr val="000000"/>
                </a:solidFill>
                <a:latin typeface="Poppins Semi-Bold"/>
                <a:ea typeface="Poppins Semi-Bold"/>
                <a:cs typeface="Poppins Semi-Bold"/>
                <a:sym typeface="Poppins Semi-Bold"/>
              </a:rPr>
              <a:t>02</a:t>
            </a:r>
          </a:p>
        </p:txBody>
      </p:sp>
      <p:sp>
        <p:nvSpPr>
          <p:cNvPr name="TextBox 23" id="23"/>
          <p:cNvSpPr txBox="true"/>
          <p:nvPr/>
        </p:nvSpPr>
        <p:spPr>
          <a:xfrm rot="0">
            <a:off x="3678032" y="2160955"/>
            <a:ext cx="6474933" cy="1011426"/>
          </a:xfrm>
          <a:prstGeom prst="rect">
            <a:avLst/>
          </a:prstGeom>
        </p:spPr>
        <p:txBody>
          <a:bodyPr anchor="t" rtlCol="false" tIns="0" lIns="0" bIns="0" rIns="0">
            <a:spAutoFit/>
          </a:bodyPr>
          <a:lstStyle/>
          <a:p>
            <a:pPr algn="l" marL="0" indent="0" lvl="0">
              <a:lnSpc>
                <a:spcPts val="7194"/>
              </a:lnSpc>
            </a:pPr>
            <a:r>
              <a:rPr lang="en-US" b="true" sz="7194">
                <a:solidFill>
                  <a:srgbClr val="000000"/>
                </a:solidFill>
                <a:latin typeface="Poppins Bold"/>
                <a:ea typeface="Poppins Bold"/>
                <a:cs typeface="Poppins Bold"/>
                <a:sym typeface="Poppins Bold"/>
              </a:rPr>
              <a:t>Presentation</a:t>
            </a:r>
          </a:p>
        </p:txBody>
      </p:sp>
      <p:sp>
        <p:nvSpPr>
          <p:cNvPr name="TextBox 24" id="24"/>
          <p:cNvSpPr txBox="true"/>
          <p:nvPr/>
        </p:nvSpPr>
        <p:spPr>
          <a:xfrm rot="0">
            <a:off x="9726945" y="2160955"/>
            <a:ext cx="4883023" cy="1011426"/>
          </a:xfrm>
          <a:prstGeom prst="rect">
            <a:avLst/>
          </a:prstGeom>
        </p:spPr>
        <p:txBody>
          <a:bodyPr anchor="t" rtlCol="false" tIns="0" lIns="0" bIns="0" rIns="0">
            <a:spAutoFit/>
          </a:bodyPr>
          <a:lstStyle/>
          <a:p>
            <a:pPr algn="r" marL="0" indent="0" lvl="0">
              <a:lnSpc>
                <a:spcPts val="7194"/>
              </a:lnSpc>
            </a:pPr>
            <a:r>
              <a:rPr lang="en-US" b="true" sz="7194">
                <a:solidFill>
                  <a:srgbClr val="D67938"/>
                </a:solidFill>
                <a:latin typeface="Poppins Bold"/>
                <a:ea typeface="Poppins Bold"/>
                <a:cs typeface="Poppins Bold"/>
                <a:sym typeface="Poppins Bold"/>
              </a:rPr>
              <a:t>Overview</a:t>
            </a:r>
          </a:p>
        </p:txBody>
      </p:sp>
      <p:sp>
        <p:nvSpPr>
          <p:cNvPr name="Freeform 25" id="25"/>
          <p:cNvSpPr/>
          <p:nvPr/>
        </p:nvSpPr>
        <p:spPr>
          <a:xfrm flipH="false" flipV="false" rot="0">
            <a:off x="1484642" y="1109229"/>
            <a:ext cx="810828" cy="552837"/>
          </a:xfrm>
          <a:custGeom>
            <a:avLst/>
            <a:gdLst/>
            <a:ahLst/>
            <a:cxnLst/>
            <a:rect r="r" b="b" t="t" l="l"/>
            <a:pathLst>
              <a:path h="552837" w="810828">
                <a:moveTo>
                  <a:pt x="0" y="0"/>
                </a:moveTo>
                <a:lnTo>
                  <a:pt x="810828" y="0"/>
                </a:lnTo>
                <a:lnTo>
                  <a:pt x="810828" y="552837"/>
                </a:lnTo>
                <a:lnTo>
                  <a:pt x="0" y="55283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6" id="26"/>
          <p:cNvSpPr txBox="true"/>
          <p:nvPr/>
        </p:nvSpPr>
        <p:spPr>
          <a:xfrm rot="0">
            <a:off x="2465179" y="1113851"/>
            <a:ext cx="4876703" cy="442980"/>
          </a:xfrm>
          <a:prstGeom prst="rect">
            <a:avLst/>
          </a:prstGeom>
        </p:spPr>
        <p:txBody>
          <a:bodyPr anchor="t" rtlCol="false" tIns="0" lIns="0" bIns="0" rIns="0">
            <a:spAutoFit/>
          </a:bodyPr>
          <a:lstStyle/>
          <a:p>
            <a:pPr algn="just" marL="0" indent="0" lvl="0">
              <a:lnSpc>
                <a:spcPts val="3408"/>
              </a:lnSpc>
            </a:pPr>
            <a:r>
              <a:rPr lang="en-US" sz="2434" spc="48">
                <a:solidFill>
                  <a:srgbClr val="000000"/>
                </a:solidFill>
                <a:latin typeface="Poppins"/>
                <a:ea typeface="Poppins"/>
                <a:cs typeface="Poppins"/>
                <a:sym typeface="Poppins"/>
              </a:rPr>
              <a:t>Trijal Singh | 25SCS1003002647</a:t>
            </a:r>
          </a:p>
        </p:txBody>
      </p:sp>
      <p:sp>
        <p:nvSpPr>
          <p:cNvPr name="Freeform 27" id="27"/>
          <p:cNvSpPr/>
          <p:nvPr/>
        </p:nvSpPr>
        <p:spPr>
          <a:xfrm flipH="true" flipV="true" rot="0">
            <a:off x="12406326" y="-579931"/>
            <a:ext cx="6828782" cy="2321786"/>
          </a:xfrm>
          <a:custGeom>
            <a:avLst/>
            <a:gdLst/>
            <a:ahLst/>
            <a:cxnLst/>
            <a:rect r="r" b="b" t="t" l="l"/>
            <a:pathLst>
              <a:path h="2321786" w="6828782">
                <a:moveTo>
                  <a:pt x="6828782" y="2321786"/>
                </a:moveTo>
                <a:lnTo>
                  <a:pt x="0" y="2321786"/>
                </a:lnTo>
                <a:lnTo>
                  <a:pt x="0" y="0"/>
                </a:lnTo>
                <a:lnTo>
                  <a:pt x="6828782" y="0"/>
                </a:lnTo>
                <a:lnTo>
                  <a:pt x="6828782" y="2321786"/>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8" id="28" descr="Bold Colorful Memphis Horizontal Repeating Lined Cross"/>
          <p:cNvSpPr/>
          <p:nvPr/>
        </p:nvSpPr>
        <p:spPr>
          <a:xfrm flipH="false" flipV="false" rot="0">
            <a:off x="11269667" y="684267"/>
            <a:ext cx="1422414" cy="173276"/>
          </a:xfrm>
          <a:custGeom>
            <a:avLst/>
            <a:gdLst/>
            <a:ahLst/>
            <a:cxnLst/>
            <a:rect r="r" b="b" t="t" l="l"/>
            <a:pathLst>
              <a:path h="173276" w="1422414">
                <a:moveTo>
                  <a:pt x="0" y="0"/>
                </a:moveTo>
                <a:lnTo>
                  <a:pt x="1422413" y="0"/>
                </a:lnTo>
                <a:lnTo>
                  <a:pt x="1422413" y="173276"/>
                </a:lnTo>
                <a:lnTo>
                  <a:pt x="0" y="1732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16666" r="0" b="-16666"/>
            </a:stretch>
          </a:blipFill>
        </p:spPr>
      </p:sp>
      <p:sp>
        <p:nvSpPr>
          <p:cNvPr name="Freeform 3" id="3"/>
          <p:cNvSpPr/>
          <p:nvPr/>
        </p:nvSpPr>
        <p:spPr>
          <a:xfrm flipH="false" flipV="false" rot="0">
            <a:off x="1484642" y="1028700"/>
            <a:ext cx="810828" cy="552837"/>
          </a:xfrm>
          <a:custGeom>
            <a:avLst/>
            <a:gdLst/>
            <a:ahLst/>
            <a:cxnLst/>
            <a:rect r="r" b="b" t="t" l="l"/>
            <a:pathLst>
              <a:path h="552837" w="810828">
                <a:moveTo>
                  <a:pt x="0" y="0"/>
                </a:moveTo>
                <a:lnTo>
                  <a:pt x="810828" y="0"/>
                </a:lnTo>
                <a:lnTo>
                  <a:pt x="810828" y="552837"/>
                </a:lnTo>
                <a:lnTo>
                  <a:pt x="0" y="5528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564356" y="-279633"/>
            <a:ext cx="5763112" cy="3038732"/>
          </a:xfrm>
          <a:custGeom>
            <a:avLst/>
            <a:gdLst/>
            <a:ahLst/>
            <a:cxnLst/>
            <a:rect r="r" b="b" t="t" l="l"/>
            <a:pathLst>
              <a:path h="3038732" w="5763112">
                <a:moveTo>
                  <a:pt x="0" y="3038732"/>
                </a:moveTo>
                <a:lnTo>
                  <a:pt x="5763112" y="3038732"/>
                </a:lnTo>
                <a:lnTo>
                  <a:pt x="5763112" y="0"/>
                </a:lnTo>
                <a:lnTo>
                  <a:pt x="0" y="0"/>
                </a:lnTo>
                <a:lnTo>
                  <a:pt x="0" y="3038732"/>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2791594" y="929277"/>
            <a:ext cx="1479619" cy="180244"/>
          </a:xfrm>
          <a:custGeom>
            <a:avLst/>
            <a:gdLst/>
            <a:ahLst/>
            <a:cxnLst/>
            <a:rect r="r" b="b" t="t" l="l"/>
            <a:pathLst>
              <a:path h="180244" w="1479619">
                <a:moveTo>
                  <a:pt x="0" y="0"/>
                </a:moveTo>
                <a:lnTo>
                  <a:pt x="1479619" y="0"/>
                </a:lnTo>
                <a:lnTo>
                  <a:pt x="1479619" y="180245"/>
                </a:lnTo>
                <a:lnTo>
                  <a:pt x="0" y="1802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615295" y="-357052"/>
            <a:ext cx="1371239" cy="1596785"/>
          </a:xfrm>
          <a:custGeom>
            <a:avLst/>
            <a:gdLst/>
            <a:ahLst/>
            <a:cxnLst/>
            <a:rect r="r" b="b" t="t" l="l"/>
            <a:pathLst>
              <a:path h="1596785" w="1371239">
                <a:moveTo>
                  <a:pt x="0" y="0"/>
                </a:moveTo>
                <a:lnTo>
                  <a:pt x="1371239" y="0"/>
                </a:lnTo>
                <a:lnTo>
                  <a:pt x="1371239" y="1596785"/>
                </a:lnTo>
                <a:lnTo>
                  <a:pt x="0" y="15967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6814972" y="8598136"/>
            <a:ext cx="888656" cy="1034825"/>
          </a:xfrm>
          <a:custGeom>
            <a:avLst/>
            <a:gdLst/>
            <a:ahLst/>
            <a:cxnLst/>
            <a:rect r="r" b="b" t="t" l="l"/>
            <a:pathLst>
              <a:path h="1034825" w="888656">
                <a:moveTo>
                  <a:pt x="0" y="0"/>
                </a:moveTo>
                <a:lnTo>
                  <a:pt x="888656" y="0"/>
                </a:lnTo>
                <a:lnTo>
                  <a:pt x="888656" y="1034825"/>
                </a:lnTo>
                <a:lnTo>
                  <a:pt x="0" y="10348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true" rot="0">
            <a:off x="-177619" y="7781492"/>
            <a:ext cx="1375693" cy="3152629"/>
          </a:xfrm>
          <a:custGeom>
            <a:avLst/>
            <a:gdLst/>
            <a:ahLst/>
            <a:cxnLst/>
            <a:rect r="r" b="b" t="t" l="l"/>
            <a:pathLst>
              <a:path h="3152629" w="1375693">
                <a:moveTo>
                  <a:pt x="0" y="3152629"/>
                </a:moveTo>
                <a:lnTo>
                  <a:pt x="1375692" y="3152629"/>
                </a:lnTo>
                <a:lnTo>
                  <a:pt x="1375692" y="0"/>
                </a:lnTo>
                <a:lnTo>
                  <a:pt x="0" y="0"/>
                </a:lnTo>
                <a:lnTo>
                  <a:pt x="0" y="3152629"/>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744833" y="9452717"/>
            <a:ext cx="1479619" cy="180244"/>
          </a:xfrm>
          <a:custGeom>
            <a:avLst/>
            <a:gdLst/>
            <a:ahLst/>
            <a:cxnLst/>
            <a:rect r="r" b="b" t="t" l="l"/>
            <a:pathLst>
              <a:path h="180244" w="1479619">
                <a:moveTo>
                  <a:pt x="0" y="0"/>
                </a:moveTo>
                <a:lnTo>
                  <a:pt x="1479619" y="0"/>
                </a:lnTo>
                <a:lnTo>
                  <a:pt x="1479619" y="180244"/>
                </a:lnTo>
                <a:lnTo>
                  <a:pt x="0" y="18024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0" id="10"/>
          <p:cNvGrpSpPr/>
          <p:nvPr/>
        </p:nvGrpSpPr>
        <p:grpSpPr>
          <a:xfrm rot="0">
            <a:off x="2606433" y="5179461"/>
            <a:ext cx="6106978" cy="3845965"/>
            <a:chOff x="0" y="0"/>
            <a:chExt cx="1608422" cy="1012929"/>
          </a:xfrm>
        </p:grpSpPr>
        <p:sp>
          <p:nvSpPr>
            <p:cNvPr name="Freeform 11" id="11"/>
            <p:cNvSpPr/>
            <p:nvPr/>
          </p:nvSpPr>
          <p:spPr>
            <a:xfrm flipH="false" flipV="false" rot="0">
              <a:off x="0" y="0"/>
              <a:ext cx="1608422" cy="1012929"/>
            </a:xfrm>
            <a:custGeom>
              <a:avLst/>
              <a:gdLst/>
              <a:ahLst/>
              <a:cxnLst/>
              <a:rect r="r" b="b" t="t" l="l"/>
              <a:pathLst>
                <a:path h="1012929" w="1608422">
                  <a:moveTo>
                    <a:pt x="22819" y="0"/>
                  </a:moveTo>
                  <a:lnTo>
                    <a:pt x="1585603" y="0"/>
                  </a:lnTo>
                  <a:cubicBezTo>
                    <a:pt x="1598206" y="0"/>
                    <a:pt x="1608422" y="10216"/>
                    <a:pt x="1608422" y="22819"/>
                  </a:cubicBezTo>
                  <a:lnTo>
                    <a:pt x="1608422" y="990110"/>
                  </a:lnTo>
                  <a:cubicBezTo>
                    <a:pt x="1608422" y="1002713"/>
                    <a:pt x="1598206" y="1012929"/>
                    <a:pt x="1585603" y="1012929"/>
                  </a:cubicBezTo>
                  <a:lnTo>
                    <a:pt x="22819" y="1012929"/>
                  </a:lnTo>
                  <a:cubicBezTo>
                    <a:pt x="10216" y="1012929"/>
                    <a:pt x="0" y="1002713"/>
                    <a:pt x="0" y="990110"/>
                  </a:cubicBezTo>
                  <a:lnTo>
                    <a:pt x="0" y="22819"/>
                  </a:lnTo>
                  <a:cubicBezTo>
                    <a:pt x="0" y="10216"/>
                    <a:pt x="10216" y="0"/>
                    <a:pt x="22819" y="0"/>
                  </a:cubicBezTo>
                  <a:close/>
                </a:path>
              </a:pathLst>
            </a:custGeom>
            <a:solidFill>
              <a:srgbClr val="D67938"/>
            </a:solidFill>
          </p:spPr>
        </p:sp>
        <p:sp>
          <p:nvSpPr>
            <p:cNvPr name="TextBox 12" id="12"/>
            <p:cNvSpPr txBox="true"/>
            <p:nvPr/>
          </p:nvSpPr>
          <p:spPr>
            <a:xfrm>
              <a:off x="0" y="-66675"/>
              <a:ext cx="1608422" cy="1079604"/>
            </a:xfrm>
            <a:prstGeom prst="rect">
              <a:avLst/>
            </a:prstGeom>
          </p:spPr>
          <p:txBody>
            <a:bodyPr anchor="ctr" rtlCol="false" tIns="50800" lIns="50800" bIns="50800" rIns="50800"/>
            <a:lstStyle/>
            <a:p>
              <a:pPr algn="ctr" marL="0" indent="0" lvl="0">
                <a:lnSpc>
                  <a:spcPts val="3639"/>
                </a:lnSpc>
              </a:pPr>
            </a:p>
          </p:txBody>
        </p:sp>
      </p:grpSp>
      <p:grpSp>
        <p:nvGrpSpPr>
          <p:cNvPr name="Group 13" id="13"/>
          <p:cNvGrpSpPr/>
          <p:nvPr/>
        </p:nvGrpSpPr>
        <p:grpSpPr>
          <a:xfrm rot="0">
            <a:off x="9574588" y="5179461"/>
            <a:ext cx="6106978" cy="3845965"/>
            <a:chOff x="0" y="0"/>
            <a:chExt cx="1608422" cy="1012929"/>
          </a:xfrm>
        </p:grpSpPr>
        <p:sp>
          <p:nvSpPr>
            <p:cNvPr name="Freeform 14" id="14"/>
            <p:cNvSpPr/>
            <p:nvPr/>
          </p:nvSpPr>
          <p:spPr>
            <a:xfrm flipH="false" flipV="false" rot="0">
              <a:off x="0" y="0"/>
              <a:ext cx="1608422" cy="1012929"/>
            </a:xfrm>
            <a:custGeom>
              <a:avLst/>
              <a:gdLst/>
              <a:ahLst/>
              <a:cxnLst/>
              <a:rect r="r" b="b" t="t" l="l"/>
              <a:pathLst>
                <a:path h="1012929" w="1608422">
                  <a:moveTo>
                    <a:pt x="22819" y="0"/>
                  </a:moveTo>
                  <a:lnTo>
                    <a:pt x="1585603" y="0"/>
                  </a:lnTo>
                  <a:cubicBezTo>
                    <a:pt x="1598206" y="0"/>
                    <a:pt x="1608422" y="10216"/>
                    <a:pt x="1608422" y="22819"/>
                  </a:cubicBezTo>
                  <a:lnTo>
                    <a:pt x="1608422" y="990110"/>
                  </a:lnTo>
                  <a:cubicBezTo>
                    <a:pt x="1608422" y="1002713"/>
                    <a:pt x="1598206" y="1012929"/>
                    <a:pt x="1585603" y="1012929"/>
                  </a:cubicBezTo>
                  <a:lnTo>
                    <a:pt x="22819" y="1012929"/>
                  </a:lnTo>
                  <a:cubicBezTo>
                    <a:pt x="10216" y="1012929"/>
                    <a:pt x="0" y="1002713"/>
                    <a:pt x="0" y="990110"/>
                  </a:cubicBezTo>
                  <a:lnTo>
                    <a:pt x="0" y="22819"/>
                  </a:lnTo>
                  <a:cubicBezTo>
                    <a:pt x="0" y="10216"/>
                    <a:pt x="10216" y="0"/>
                    <a:pt x="22819" y="0"/>
                  </a:cubicBezTo>
                  <a:close/>
                </a:path>
              </a:pathLst>
            </a:custGeom>
            <a:solidFill>
              <a:srgbClr val="D67938"/>
            </a:solidFill>
          </p:spPr>
        </p:sp>
        <p:sp>
          <p:nvSpPr>
            <p:cNvPr name="TextBox 15" id="15"/>
            <p:cNvSpPr txBox="true"/>
            <p:nvPr/>
          </p:nvSpPr>
          <p:spPr>
            <a:xfrm>
              <a:off x="0" y="-66675"/>
              <a:ext cx="1608422" cy="1079604"/>
            </a:xfrm>
            <a:prstGeom prst="rect">
              <a:avLst/>
            </a:prstGeom>
          </p:spPr>
          <p:txBody>
            <a:bodyPr anchor="ctr" rtlCol="false" tIns="50800" lIns="50800" bIns="50800" rIns="50800"/>
            <a:lstStyle/>
            <a:p>
              <a:pPr algn="ctr" marL="0" indent="0" lvl="0">
                <a:lnSpc>
                  <a:spcPts val="3639"/>
                </a:lnSpc>
              </a:pPr>
            </a:p>
          </p:txBody>
        </p:sp>
      </p:grpSp>
      <p:grpSp>
        <p:nvGrpSpPr>
          <p:cNvPr name="Group 16" id="16"/>
          <p:cNvGrpSpPr/>
          <p:nvPr/>
        </p:nvGrpSpPr>
        <p:grpSpPr>
          <a:xfrm rot="0">
            <a:off x="4940527" y="4534766"/>
            <a:ext cx="1438790" cy="143879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2721"/>
            </a:solidFill>
            <a:ln w="123825" cap="sq">
              <a:solidFill>
                <a:srgbClr val="FFFFFF"/>
              </a:solidFill>
              <a:prstDash val="solid"/>
              <a:miter/>
            </a:ln>
          </p:spPr>
        </p:sp>
        <p:sp>
          <p:nvSpPr>
            <p:cNvPr name="TextBox 18" id="18"/>
            <p:cNvSpPr txBox="true"/>
            <p:nvPr/>
          </p:nvSpPr>
          <p:spPr>
            <a:xfrm>
              <a:off x="76200" y="9525"/>
              <a:ext cx="660400" cy="727075"/>
            </a:xfrm>
            <a:prstGeom prst="rect">
              <a:avLst/>
            </a:prstGeom>
          </p:spPr>
          <p:txBody>
            <a:bodyPr anchor="ctr" rtlCol="false" tIns="50800" lIns="50800" bIns="50800" rIns="50800"/>
            <a:lstStyle/>
            <a:p>
              <a:pPr algn="ctr" marL="0" indent="0" lvl="0">
                <a:lnSpc>
                  <a:spcPts val="3639"/>
                </a:lnSpc>
              </a:pPr>
            </a:p>
          </p:txBody>
        </p:sp>
      </p:grpSp>
      <p:grpSp>
        <p:nvGrpSpPr>
          <p:cNvPr name="Group 19" id="19"/>
          <p:cNvGrpSpPr/>
          <p:nvPr/>
        </p:nvGrpSpPr>
        <p:grpSpPr>
          <a:xfrm rot="0">
            <a:off x="11908682" y="4534766"/>
            <a:ext cx="1438790" cy="1438790"/>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2721"/>
            </a:solidFill>
            <a:ln w="123825" cap="sq">
              <a:solidFill>
                <a:srgbClr val="FFFFFF"/>
              </a:solidFill>
              <a:prstDash val="solid"/>
              <a:miter/>
            </a:ln>
          </p:spPr>
        </p:sp>
        <p:sp>
          <p:nvSpPr>
            <p:cNvPr name="TextBox 21" id="21"/>
            <p:cNvSpPr txBox="true"/>
            <p:nvPr/>
          </p:nvSpPr>
          <p:spPr>
            <a:xfrm>
              <a:off x="76200" y="9525"/>
              <a:ext cx="660400" cy="727075"/>
            </a:xfrm>
            <a:prstGeom prst="rect">
              <a:avLst/>
            </a:prstGeom>
          </p:spPr>
          <p:txBody>
            <a:bodyPr anchor="ctr" rtlCol="false" tIns="50800" lIns="50800" bIns="50800" rIns="50800"/>
            <a:lstStyle/>
            <a:p>
              <a:pPr algn="ctr" marL="0" indent="0" lvl="0">
                <a:lnSpc>
                  <a:spcPts val="3639"/>
                </a:lnSpc>
              </a:pPr>
            </a:p>
          </p:txBody>
        </p:sp>
      </p:grpSp>
      <p:sp>
        <p:nvSpPr>
          <p:cNvPr name="Freeform 22" id="22"/>
          <p:cNvSpPr/>
          <p:nvPr/>
        </p:nvSpPr>
        <p:spPr>
          <a:xfrm flipH="false" flipV="false" rot="0">
            <a:off x="5314395" y="4908634"/>
            <a:ext cx="691054" cy="691054"/>
          </a:xfrm>
          <a:custGeom>
            <a:avLst/>
            <a:gdLst/>
            <a:ahLst/>
            <a:cxnLst/>
            <a:rect r="r" b="b" t="t" l="l"/>
            <a:pathLst>
              <a:path h="691054" w="691054">
                <a:moveTo>
                  <a:pt x="0" y="0"/>
                </a:moveTo>
                <a:lnTo>
                  <a:pt x="691055" y="0"/>
                </a:lnTo>
                <a:lnTo>
                  <a:pt x="691055" y="691055"/>
                </a:lnTo>
                <a:lnTo>
                  <a:pt x="0" y="69105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3" id="23"/>
          <p:cNvSpPr/>
          <p:nvPr/>
        </p:nvSpPr>
        <p:spPr>
          <a:xfrm flipH="false" flipV="false" rot="0">
            <a:off x="12282550" y="4908634"/>
            <a:ext cx="691054" cy="691054"/>
          </a:xfrm>
          <a:custGeom>
            <a:avLst/>
            <a:gdLst/>
            <a:ahLst/>
            <a:cxnLst/>
            <a:rect r="r" b="b" t="t" l="l"/>
            <a:pathLst>
              <a:path h="691054" w="691054">
                <a:moveTo>
                  <a:pt x="0" y="0"/>
                </a:moveTo>
                <a:lnTo>
                  <a:pt x="691055" y="0"/>
                </a:lnTo>
                <a:lnTo>
                  <a:pt x="691055" y="691055"/>
                </a:lnTo>
                <a:lnTo>
                  <a:pt x="0" y="69105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4" id="24"/>
          <p:cNvSpPr txBox="true"/>
          <p:nvPr/>
        </p:nvSpPr>
        <p:spPr>
          <a:xfrm rot="0">
            <a:off x="4370083" y="1966585"/>
            <a:ext cx="5869810" cy="1011426"/>
          </a:xfrm>
          <a:prstGeom prst="rect">
            <a:avLst/>
          </a:prstGeom>
        </p:spPr>
        <p:txBody>
          <a:bodyPr anchor="t" rtlCol="false" tIns="0" lIns="0" bIns="0" rIns="0">
            <a:spAutoFit/>
          </a:bodyPr>
          <a:lstStyle/>
          <a:p>
            <a:pPr algn="l" marL="0" indent="0" lvl="0">
              <a:lnSpc>
                <a:spcPts val="7194"/>
              </a:lnSpc>
            </a:pPr>
            <a:r>
              <a:rPr lang="en-US" b="true" sz="7194">
                <a:solidFill>
                  <a:srgbClr val="000000"/>
                </a:solidFill>
                <a:latin typeface="Poppins Bold"/>
                <a:ea typeface="Poppins Bold"/>
                <a:cs typeface="Poppins Bold"/>
                <a:sym typeface="Poppins Bold"/>
              </a:rPr>
              <a:t>Internship</a:t>
            </a:r>
          </a:p>
        </p:txBody>
      </p:sp>
      <p:sp>
        <p:nvSpPr>
          <p:cNvPr name="TextBox 25" id="25"/>
          <p:cNvSpPr txBox="true"/>
          <p:nvPr/>
        </p:nvSpPr>
        <p:spPr>
          <a:xfrm rot="0">
            <a:off x="8941508" y="1966585"/>
            <a:ext cx="4883023" cy="1011426"/>
          </a:xfrm>
          <a:prstGeom prst="rect">
            <a:avLst/>
          </a:prstGeom>
        </p:spPr>
        <p:txBody>
          <a:bodyPr anchor="t" rtlCol="false" tIns="0" lIns="0" bIns="0" rIns="0">
            <a:spAutoFit/>
          </a:bodyPr>
          <a:lstStyle/>
          <a:p>
            <a:pPr algn="r" marL="0" indent="0" lvl="0">
              <a:lnSpc>
                <a:spcPts val="7194"/>
              </a:lnSpc>
            </a:pPr>
            <a:r>
              <a:rPr lang="en-US" b="true" sz="7194">
                <a:solidFill>
                  <a:srgbClr val="D67938"/>
                </a:solidFill>
                <a:latin typeface="Poppins Bold"/>
                <a:ea typeface="Poppins Bold"/>
                <a:cs typeface="Poppins Bold"/>
                <a:sym typeface="Poppins Bold"/>
              </a:rPr>
              <a:t>Overview</a:t>
            </a:r>
          </a:p>
        </p:txBody>
      </p:sp>
      <p:sp>
        <p:nvSpPr>
          <p:cNvPr name="TextBox 26" id="26"/>
          <p:cNvSpPr txBox="true"/>
          <p:nvPr/>
        </p:nvSpPr>
        <p:spPr>
          <a:xfrm rot="0">
            <a:off x="2465179" y="1033322"/>
            <a:ext cx="4876703" cy="442980"/>
          </a:xfrm>
          <a:prstGeom prst="rect">
            <a:avLst/>
          </a:prstGeom>
        </p:spPr>
        <p:txBody>
          <a:bodyPr anchor="t" rtlCol="false" tIns="0" lIns="0" bIns="0" rIns="0">
            <a:spAutoFit/>
          </a:bodyPr>
          <a:lstStyle/>
          <a:p>
            <a:pPr algn="just" marL="0" indent="0" lvl="0">
              <a:lnSpc>
                <a:spcPts val="3408"/>
              </a:lnSpc>
            </a:pPr>
            <a:r>
              <a:rPr lang="en-US" sz="2434" spc="48">
                <a:solidFill>
                  <a:srgbClr val="000000"/>
                </a:solidFill>
                <a:latin typeface="Poppins"/>
                <a:ea typeface="Poppins"/>
                <a:cs typeface="Poppins"/>
                <a:sym typeface="Poppins"/>
              </a:rPr>
              <a:t>Trijal Singh | 25SCS1003002647</a:t>
            </a:r>
          </a:p>
        </p:txBody>
      </p:sp>
      <p:sp>
        <p:nvSpPr>
          <p:cNvPr name="TextBox 27" id="27"/>
          <p:cNvSpPr txBox="true"/>
          <p:nvPr/>
        </p:nvSpPr>
        <p:spPr>
          <a:xfrm rot="0">
            <a:off x="1845736" y="3363919"/>
            <a:ext cx="14596528" cy="917884"/>
          </a:xfrm>
          <a:prstGeom prst="rect">
            <a:avLst/>
          </a:prstGeom>
        </p:spPr>
        <p:txBody>
          <a:bodyPr anchor="t" rtlCol="false" tIns="0" lIns="0" bIns="0" rIns="0">
            <a:spAutoFit/>
          </a:bodyPr>
          <a:lstStyle/>
          <a:p>
            <a:pPr algn="ctr" marL="0" indent="0" lvl="0">
              <a:lnSpc>
                <a:spcPts val="2432"/>
              </a:lnSpc>
            </a:pPr>
            <a:r>
              <a:rPr lang="en-US" sz="1737" spc="34">
                <a:solidFill>
                  <a:srgbClr val="000000"/>
                </a:solidFill>
                <a:latin typeface="Poppins"/>
                <a:ea typeface="Poppins"/>
                <a:cs typeface="Poppins"/>
                <a:sym typeface="Poppins"/>
              </a:rPr>
              <a:t>Hands 4 Zero Poverty Trust (H4ZP) is a non-profit organization dedicated to poverty alleviation and community empowerment. This internship focused on supporting organized, accessible, and reliable digital record management to strengthen the organization's administrative and operational efficiency.</a:t>
            </a:r>
          </a:p>
        </p:txBody>
      </p:sp>
      <p:sp>
        <p:nvSpPr>
          <p:cNvPr name="TextBox 28" id="28"/>
          <p:cNvSpPr txBox="true"/>
          <p:nvPr/>
        </p:nvSpPr>
        <p:spPr>
          <a:xfrm rot="0">
            <a:off x="3063038" y="6941027"/>
            <a:ext cx="5193769" cy="1388622"/>
          </a:xfrm>
          <a:prstGeom prst="rect">
            <a:avLst/>
          </a:prstGeom>
        </p:spPr>
        <p:txBody>
          <a:bodyPr anchor="t" rtlCol="false" tIns="0" lIns="0" bIns="0" rIns="0">
            <a:spAutoFit/>
          </a:bodyPr>
          <a:lstStyle/>
          <a:p>
            <a:pPr algn="ctr" marL="0" indent="0" lvl="0">
              <a:lnSpc>
                <a:spcPts val="2211"/>
              </a:lnSpc>
            </a:pPr>
            <a:r>
              <a:rPr lang="en-US" sz="1579" spc="31">
                <a:solidFill>
                  <a:srgbClr val="000000"/>
                </a:solidFill>
                <a:latin typeface="Poppins"/>
                <a:ea typeface="Poppins"/>
                <a:cs typeface="Poppins"/>
                <a:sym typeface="Poppins"/>
              </a:rPr>
              <a:t>H4ZP operates across multiple community programs requiring systematic documentation. The internship addressed gaps in digital record-keeping to ensure data integrity and easy retrieval of organizational records.</a:t>
            </a:r>
          </a:p>
        </p:txBody>
      </p:sp>
      <p:sp>
        <p:nvSpPr>
          <p:cNvPr name="TextBox 29" id="29"/>
          <p:cNvSpPr txBox="true"/>
          <p:nvPr/>
        </p:nvSpPr>
        <p:spPr>
          <a:xfrm rot="0">
            <a:off x="10018497" y="6941027"/>
            <a:ext cx="5193769" cy="1388622"/>
          </a:xfrm>
          <a:prstGeom prst="rect">
            <a:avLst/>
          </a:prstGeom>
        </p:spPr>
        <p:txBody>
          <a:bodyPr anchor="t" rtlCol="false" tIns="0" lIns="0" bIns="0" rIns="0">
            <a:spAutoFit/>
          </a:bodyPr>
          <a:lstStyle/>
          <a:p>
            <a:pPr algn="ctr" marL="0" indent="0" lvl="0">
              <a:lnSpc>
                <a:spcPts val="2211"/>
              </a:lnSpc>
            </a:pPr>
            <a:r>
              <a:rPr lang="en-US" sz="1579" spc="31">
                <a:solidFill>
                  <a:srgbClr val="000000"/>
                </a:solidFill>
                <a:latin typeface="Poppins"/>
                <a:ea typeface="Poppins"/>
                <a:cs typeface="Poppins"/>
                <a:sym typeface="Poppins"/>
              </a:rPr>
              <a:t>To digitize, organize, and maintain records; establish a structured filing system; improve document accessibility; and support staff with efficient data management practices across H4ZP operations.</a:t>
            </a:r>
          </a:p>
        </p:txBody>
      </p:sp>
      <p:sp>
        <p:nvSpPr>
          <p:cNvPr name="TextBox 30" id="30"/>
          <p:cNvSpPr txBox="true"/>
          <p:nvPr/>
        </p:nvSpPr>
        <p:spPr>
          <a:xfrm rot="0">
            <a:off x="3057471" y="6201277"/>
            <a:ext cx="5053732" cy="426205"/>
          </a:xfrm>
          <a:prstGeom prst="rect">
            <a:avLst/>
          </a:prstGeom>
        </p:spPr>
        <p:txBody>
          <a:bodyPr anchor="t" rtlCol="false" tIns="0" lIns="0" bIns="0" rIns="0">
            <a:spAutoFit/>
          </a:bodyPr>
          <a:lstStyle/>
          <a:p>
            <a:pPr algn="ctr" marL="0" indent="0" lvl="0">
              <a:lnSpc>
                <a:spcPts val="3090"/>
              </a:lnSpc>
            </a:pPr>
            <a:r>
              <a:rPr lang="en-US" b="true" sz="2809" spc="56">
                <a:solidFill>
                  <a:srgbClr val="000000"/>
                </a:solidFill>
                <a:latin typeface="Poppins Semi-Bold"/>
                <a:ea typeface="Poppins Semi-Bold"/>
                <a:cs typeface="Poppins Semi-Bold"/>
                <a:sym typeface="Poppins Semi-Bold"/>
              </a:rPr>
              <a:t>Organization Context</a:t>
            </a:r>
          </a:p>
        </p:txBody>
      </p:sp>
      <p:sp>
        <p:nvSpPr>
          <p:cNvPr name="TextBox 31" id="31"/>
          <p:cNvSpPr txBox="true"/>
          <p:nvPr/>
        </p:nvSpPr>
        <p:spPr>
          <a:xfrm rot="0">
            <a:off x="10088515" y="6201277"/>
            <a:ext cx="5053732" cy="426205"/>
          </a:xfrm>
          <a:prstGeom prst="rect">
            <a:avLst/>
          </a:prstGeom>
        </p:spPr>
        <p:txBody>
          <a:bodyPr anchor="t" rtlCol="false" tIns="0" lIns="0" bIns="0" rIns="0">
            <a:spAutoFit/>
          </a:bodyPr>
          <a:lstStyle/>
          <a:p>
            <a:pPr algn="ctr" marL="0" indent="0" lvl="0">
              <a:lnSpc>
                <a:spcPts val="3090"/>
              </a:lnSpc>
            </a:pPr>
            <a:r>
              <a:rPr lang="en-US" b="true" sz="2809" spc="56">
                <a:solidFill>
                  <a:srgbClr val="000000"/>
                </a:solidFill>
                <a:latin typeface="Poppins Semi-Bold"/>
                <a:ea typeface="Poppins Semi-Bold"/>
                <a:cs typeface="Poppins Semi-Bold"/>
                <a:sym typeface="Poppins Semi-Bold"/>
              </a:rPr>
              <a:t>Internship Objectives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16666" r="0" b="-16666"/>
            </a:stretch>
          </a:blipFill>
        </p:spPr>
      </p:sp>
      <p:sp>
        <p:nvSpPr>
          <p:cNvPr name="Freeform 3" id="3"/>
          <p:cNvSpPr/>
          <p:nvPr/>
        </p:nvSpPr>
        <p:spPr>
          <a:xfrm flipH="false" flipV="false" rot="0">
            <a:off x="-1893804" y="4042403"/>
            <a:ext cx="9265274" cy="6325564"/>
          </a:xfrm>
          <a:custGeom>
            <a:avLst/>
            <a:gdLst/>
            <a:ahLst/>
            <a:cxnLst/>
            <a:rect r="r" b="b" t="t" l="l"/>
            <a:pathLst>
              <a:path h="6325564" w="9265274">
                <a:moveTo>
                  <a:pt x="0" y="0"/>
                </a:moveTo>
                <a:lnTo>
                  <a:pt x="9265274" y="0"/>
                </a:lnTo>
                <a:lnTo>
                  <a:pt x="9265274" y="6325564"/>
                </a:lnTo>
                <a:lnTo>
                  <a:pt x="0" y="6325564"/>
                </a:lnTo>
                <a:lnTo>
                  <a:pt x="0" y="0"/>
                </a:lnTo>
                <a:close/>
              </a:path>
            </a:pathLst>
          </a:custGeom>
          <a:blipFill>
            <a:blip r:embed="rId3">
              <a:extLst>
                <a:ext uri="{96DAC541-7B7A-43D3-8B79-37D633B846F1}">
                  <asvg:svgBlip xmlns:asvg="http://schemas.microsoft.com/office/drawing/2016/SVG/main" r:embed="rId4"/>
                </a:ext>
              </a:extLst>
            </a:blip>
            <a:stretch>
              <a:fillRect l="0" t="-35288" r="0" b="0"/>
            </a:stretch>
          </a:blipFill>
        </p:spPr>
      </p:sp>
      <p:sp>
        <p:nvSpPr>
          <p:cNvPr name="Freeform 4" id="4"/>
          <p:cNvSpPr/>
          <p:nvPr/>
        </p:nvSpPr>
        <p:spPr>
          <a:xfrm flipH="false" flipV="true" rot="0">
            <a:off x="0" y="-470843"/>
            <a:ext cx="1375693" cy="3152629"/>
          </a:xfrm>
          <a:custGeom>
            <a:avLst/>
            <a:gdLst/>
            <a:ahLst/>
            <a:cxnLst/>
            <a:rect r="r" b="b" t="t" l="l"/>
            <a:pathLst>
              <a:path h="3152629" w="1375693">
                <a:moveTo>
                  <a:pt x="0" y="3152629"/>
                </a:moveTo>
                <a:lnTo>
                  <a:pt x="1375693" y="3152629"/>
                </a:lnTo>
                <a:lnTo>
                  <a:pt x="1375693" y="0"/>
                </a:lnTo>
                <a:lnTo>
                  <a:pt x="0" y="0"/>
                </a:lnTo>
                <a:lnTo>
                  <a:pt x="0" y="3152629"/>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5400000">
            <a:off x="7254382" y="-439722"/>
            <a:ext cx="888656" cy="1034825"/>
          </a:xfrm>
          <a:custGeom>
            <a:avLst/>
            <a:gdLst/>
            <a:ahLst/>
            <a:cxnLst/>
            <a:rect r="r" b="b" t="t" l="l"/>
            <a:pathLst>
              <a:path h="1034825" w="888656">
                <a:moveTo>
                  <a:pt x="0" y="0"/>
                </a:moveTo>
                <a:lnTo>
                  <a:pt x="888656" y="0"/>
                </a:lnTo>
                <a:lnTo>
                  <a:pt x="888656" y="1034825"/>
                </a:lnTo>
                <a:lnTo>
                  <a:pt x="0" y="10348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5400000">
            <a:off x="15692957" y="9769587"/>
            <a:ext cx="888656" cy="1034825"/>
          </a:xfrm>
          <a:custGeom>
            <a:avLst/>
            <a:gdLst/>
            <a:ahLst/>
            <a:cxnLst/>
            <a:rect r="r" b="b" t="t" l="l"/>
            <a:pathLst>
              <a:path h="1034825" w="888656">
                <a:moveTo>
                  <a:pt x="0" y="0"/>
                </a:moveTo>
                <a:lnTo>
                  <a:pt x="888656" y="0"/>
                </a:lnTo>
                <a:lnTo>
                  <a:pt x="888656" y="1034826"/>
                </a:lnTo>
                <a:lnTo>
                  <a:pt x="0" y="10348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484642" y="1028700"/>
            <a:ext cx="810828" cy="552837"/>
          </a:xfrm>
          <a:custGeom>
            <a:avLst/>
            <a:gdLst/>
            <a:ahLst/>
            <a:cxnLst/>
            <a:rect r="r" b="b" t="t" l="l"/>
            <a:pathLst>
              <a:path h="552837" w="810828">
                <a:moveTo>
                  <a:pt x="0" y="0"/>
                </a:moveTo>
                <a:lnTo>
                  <a:pt x="810828" y="0"/>
                </a:lnTo>
                <a:lnTo>
                  <a:pt x="810828" y="552837"/>
                </a:lnTo>
                <a:lnTo>
                  <a:pt x="0" y="55283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8" id="8"/>
          <p:cNvGrpSpPr/>
          <p:nvPr/>
        </p:nvGrpSpPr>
        <p:grpSpPr>
          <a:xfrm rot="0">
            <a:off x="13429156" y="5031755"/>
            <a:ext cx="3388380" cy="4175410"/>
            <a:chOff x="0" y="0"/>
            <a:chExt cx="892413" cy="1099697"/>
          </a:xfrm>
        </p:grpSpPr>
        <p:sp>
          <p:nvSpPr>
            <p:cNvPr name="Freeform 9" id="9"/>
            <p:cNvSpPr/>
            <p:nvPr/>
          </p:nvSpPr>
          <p:spPr>
            <a:xfrm flipH="false" flipV="false" rot="0">
              <a:off x="0" y="0"/>
              <a:ext cx="892413" cy="1099697"/>
            </a:xfrm>
            <a:custGeom>
              <a:avLst/>
              <a:gdLst/>
              <a:ahLst/>
              <a:cxnLst/>
              <a:rect r="r" b="b" t="t" l="l"/>
              <a:pathLst>
                <a:path h="1099697" w="892413">
                  <a:moveTo>
                    <a:pt x="29703" y="0"/>
                  </a:moveTo>
                  <a:lnTo>
                    <a:pt x="862710" y="0"/>
                  </a:lnTo>
                  <a:cubicBezTo>
                    <a:pt x="879114" y="0"/>
                    <a:pt x="892413" y="13298"/>
                    <a:pt x="892413" y="29703"/>
                  </a:cubicBezTo>
                  <a:lnTo>
                    <a:pt x="892413" y="1069994"/>
                  </a:lnTo>
                  <a:cubicBezTo>
                    <a:pt x="892413" y="1086398"/>
                    <a:pt x="879114" y="1099697"/>
                    <a:pt x="862710" y="1099697"/>
                  </a:cubicBezTo>
                  <a:lnTo>
                    <a:pt x="29703" y="1099697"/>
                  </a:lnTo>
                  <a:cubicBezTo>
                    <a:pt x="13298" y="1099697"/>
                    <a:pt x="0" y="1086398"/>
                    <a:pt x="0" y="1069994"/>
                  </a:cubicBezTo>
                  <a:lnTo>
                    <a:pt x="0" y="29703"/>
                  </a:lnTo>
                  <a:cubicBezTo>
                    <a:pt x="0" y="13298"/>
                    <a:pt x="13298" y="0"/>
                    <a:pt x="29703" y="0"/>
                  </a:cubicBezTo>
                  <a:close/>
                </a:path>
              </a:pathLst>
            </a:custGeom>
            <a:solidFill>
              <a:srgbClr val="FFFFFF"/>
            </a:solidFill>
            <a:ln w="28575" cap="sq">
              <a:solidFill>
                <a:srgbClr val="302721"/>
              </a:solidFill>
              <a:prstDash val="solid"/>
              <a:miter/>
            </a:ln>
          </p:spPr>
        </p:sp>
        <p:sp>
          <p:nvSpPr>
            <p:cNvPr name="TextBox 10" id="10"/>
            <p:cNvSpPr txBox="true"/>
            <p:nvPr/>
          </p:nvSpPr>
          <p:spPr>
            <a:xfrm>
              <a:off x="0" y="-38100"/>
              <a:ext cx="892413" cy="1137797"/>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9253536" y="5031755"/>
            <a:ext cx="3388380" cy="4175410"/>
            <a:chOff x="0" y="0"/>
            <a:chExt cx="892413" cy="1099697"/>
          </a:xfrm>
        </p:grpSpPr>
        <p:sp>
          <p:nvSpPr>
            <p:cNvPr name="Freeform 12" id="12"/>
            <p:cNvSpPr/>
            <p:nvPr/>
          </p:nvSpPr>
          <p:spPr>
            <a:xfrm flipH="false" flipV="false" rot="0">
              <a:off x="0" y="0"/>
              <a:ext cx="892413" cy="1099697"/>
            </a:xfrm>
            <a:custGeom>
              <a:avLst/>
              <a:gdLst/>
              <a:ahLst/>
              <a:cxnLst/>
              <a:rect r="r" b="b" t="t" l="l"/>
              <a:pathLst>
                <a:path h="1099697" w="892413">
                  <a:moveTo>
                    <a:pt x="29703" y="0"/>
                  </a:moveTo>
                  <a:lnTo>
                    <a:pt x="862710" y="0"/>
                  </a:lnTo>
                  <a:cubicBezTo>
                    <a:pt x="879114" y="0"/>
                    <a:pt x="892413" y="13298"/>
                    <a:pt x="892413" y="29703"/>
                  </a:cubicBezTo>
                  <a:lnTo>
                    <a:pt x="892413" y="1069994"/>
                  </a:lnTo>
                  <a:cubicBezTo>
                    <a:pt x="892413" y="1086398"/>
                    <a:pt x="879114" y="1099697"/>
                    <a:pt x="862710" y="1099697"/>
                  </a:cubicBezTo>
                  <a:lnTo>
                    <a:pt x="29703" y="1099697"/>
                  </a:lnTo>
                  <a:cubicBezTo>
                    <a:pt x="13298" y="1099697"/>
                    <a:pt x="0" y="1086398"/>
                    <a:pt x="0" y="1069994"/>
                  </a:cubicBezTo>
                  <a:lnTo>
                    <a:pt x="0" y="29703"/>
                  </a:lnTo>
                  <a:cubicBezTo>
                    <a:pt x="0" y="13298"/>
                    <a:pt x="13298" y="0"/>
                    <a:pt x="29703" y="0"/>
                  </a:cubicBezTo>
                  <a:close/>
                </a:path>
              </a:pathLst>
            </a:custGeom>
            <a:solidFill>
              <a:srgbClr val="FFFFFF"/>
            </a:solidFill>
            <a:ln w="28575" cap="sq">
              <a:solidFill>
                <a:srgbClr val="302721"/>
              </a:solidFill>
              <a:prstDash val="solid"/>
              <a:miter/>
            </a:ln>
          </p:spPr>
        </p:sp>
        <p:sp>
          <p:nvSpPr>
            <p:cNvPr name="TextBox 13" id="13"/>
            <p:cNvSpPr txBox="true"/>
            <p:nvPr/>
          </p:nvSpPr>
          <p:spPr>
            <a:xfrm>
              <a:off x="0" y="-38100"/>
              <a:ext cx="892413" cy="1137797"/>
            </a:xfrm>
            <a:prstGeom prst="rect">
              <a:avLst/>
            </a:prstGeom>
          </p:spPr>
          <p:txBody>
            <a:bodyPr anchor="ctr" rtlCol="false" tIns="50800" lIns="50800" bIns="50800" rIns="50800"/>
            <a:lstStyle/>
            <a:p>
              <a:pPr algn="ctr" marL="0" indent="0" lvl="0">
                <a:lnSpc>
                  <a:spcPts val="2659"/>
                </a:lnSpc>
              </a:pPr>
            </a:p>
          </p:txBody>
        </p:sp>
      </p:grpSp>
      <p:grpSp>
        <p:nvGrpSpPr>
          <p:cNvPr name="Group 14" id="14"/>
          <p:cNvGrpSpPr/>
          <p:nvPr/>
        </p:nvGrpSpPr>
        <p:grpSpPr>
          <a:xfrm rot="0">
            <a:off x="13429156" y="5031755"/>
            <a:ext cx="3388380" cy="1150972"/>
            <a:chOff x="0" y="0"/>
            <a:chExt cx="892413" cy="303137"/>
          </a:xfrm>
        </p:grpSpPr>
        <p:sp>
          <p:nvSpPr>
            <p:cNvPr name="Freeform 15" id="15"/>
            <p:cNvSpPr/>
            <p:nvPr/>
          </p:nvSpPr>
          <p:spPr>
            <a:xfrm flipH="false" flipV="false" rot="0">
              <a:off x="0" y="0"/>
              <a:ext cx="892413" cy="303137"/>
            </a:xfrm>
            <a:custGeom>
              <a:avLst/>
              <a:gdLst/>
              <a:ahLst/>
              <a:cxnLst/>
              <a:rect r="r" b="b" t="t" l="l"/>
              <a:pathLst>
                <a:path h="303137" w="892413">
                  <a:moveTo>
                    <a:pt x="29703" y="0"/>
                  </a:moveTo>
                  <a:lnTo>
                    <a:pt x="862710" y="0"/>
                  </a:lnTo>
                  <a:cubicBezTo>
                    <a:pt x="879114" y="0"/>
                    <a:pt x="892413" y="13298"/>
                    <a:pt x="892413" y="29703"/>
                  </a:cubicBezTo>
                  <a:lnTo>
                    <a:pt x="892413" y="273434"/>
                  </a:lnTo>
                  <a:cubicBezTo>
                    <a:pt x="892413" y="289838"/>
                    <a:pt x="879114" y="303137"/>
                    <a:pt x="862710" y="303137"/>
                  </a:cubicBezTo>
                  <a:lnTo>
                    <a:pt x="29703" y="303137"/>
                  </a:lnTo>
                  <a:cubicBezTo>
                    <a:pt x="13298" y="303137"/>
                    <a:pt x="0" y="289838"/>
                    <a:pt x="0" y="273434"/>
                  </a:cubicBezTo>
                  <a:lnTo>
                    <a:pt x="0" y="29703"/>
                  </a:lnTo>
                  <a:cubicBezTo>
                    <a:pt x="0" y="13298"/>
                    <a:pt x="13298" y="0"/>
                    <a:pt x="29703" y="0"/>
                  </a:cubicBezTo>
                  <a:close/>
                </a:path>
              </a:pathLst>
            </a:custGeom>
            <a:solidFill>
              <a:srgbClr val="302721"/>
            </a:solidFill>
          </p:spPr>
        </p:sp>
        <p:sp>
          <p:nvSpPr>
            <p:cNvPr name="TextBox 16" id="16"/>
            <p:cNvSpPr txBox="true"/>
            <p:nvPr/>
          </p:nvSpPr>
          <p:spPr>
            <a:xfrm>
              <a:off x="0" y="-38100"/>
              <a:ext cx="892413" cy="341237"/>
            </a:xfrm>
            <a:prstGeom prst="rect">
              <a:avLst/>
            </a:prstGeom>
          </p:spPr>
          <p:txBody>
            <a:bodyPr anchor="ctr" rtlCol="false" tIns="50800" lIns="50800" bIns="50800" rIns="50800"/>
            <a:lstStyle/>
            <a:p>
              <a:pPr algn="ctr" marL="0" indent="0" lvl="0">
                <a:lnSpc>
                  <a:spcPts val="2659"/>
                </a:lnSpc>
              </a:pPr>
            </a:p>
          </p:txBody>
        </p:sp>
      </p:grpSp>
      <p:grpSp>
        <p:nvGrpSpPr>
          <p:cNvPr name="Group 17" id="17"/>
          <p:cNvGrpSpPr/>
          <p:nvPr/>
        </p:nvGrpSpPr>
        <p:grpSpPr>
          <a:xfrm rot="0">
            <a:off x="9253536" y="5031755"/>
            <a:ext cx="3388380" cy="1150972"/>
            <a:chOff x="0" y="0"/>
            <a:chExt cx="892413" cy="303137"/>
          </a:xfrm>
        </p:grpSpPr>
        <p:sp>
          <p:nvSpPr>
            <p:cNvPr name="Freeform 18" id="18"/>
            <p:cNvSpPr/>
            <p:nvPr/>
          </p:nvSpPr>
          <p:spPr>
            <a:xfrm flipH="false" flipV="false" rot="0">
              <a:off x="0" y="0"/>
              <a:ext cx="892413" cy="303137"/>
            </a:xfrm>
            <a:custGeom>
              <a:avLst/>
              <a:gdLst/>
              <a:ahLst/>
              <a:cxnLst/>
              <a:rect r="r" b="b" t="t" l="l"/>
              <a:pathLst>
                <a:path h="303137" w="892413">
                  <a:moveTo>
                    <a:pt x="29703" y="0"/>
                  </a:moveTo>
                  <a:lnTo>
                    <a:pt x="862710" y="0"/>
                  </a:lnTo>
                  <a:cubicBezTo>
                    <a:pt x="879114" y="0"/>
                    <a:pt x="892413" y="13298"/>
                    <a:pt x="892413" y="29703"/>
                  </a:cubicBezTo>
                  <a:lnTo>
                    <a:pt x="892413" y="273434"/>
                  </a:lnTo>
                  <a:cubicBezTo>
                    <a:pt x="892413" y="289838"/>
                    <a:pt x="879114" y="303137"/>
                    <a:pt x="862710" y="303137"/>
                  </a:cubicBezTo>
                  <a:lnTo>
                    <a:pt x="29703" y="303137"/>
                  </a:lnTo>
                  <a:cubicBezTo>
                    <a:pt x="13298" y="303137"/>
                    <a:pt x="0" y="289838"/>
                    <a:pt x="0" y="273434"/>
                  </a:cubicBezTo>
                  <a:lnTo>
                    <a:pt x="0" y="29703"/>
                  </a:lnTo>
                  <a:cubicBezTo>
                    <a:pt x="0" y="13298"/>
                    <a:pt x="13298" y="0"/>
                    <a:pt x="29703" y="0"/>
                  </a:cubicBezTo>
                  <a:close/>
                </a:path>
              </a:pathLst>
            </a:custGeom>
            <a:solidFill>
              <a:srgbClr val="302721"/>
            </a:solidFill>
          </p:spPr>
        </p:sp>
        <p:sp>
          <p:nvSpPr>
            <p:cNvPr name="TextBox 19" id="19"/>
            <p:cNvSpPr txBox="true"/>
            <p:nvPr/>
          </p:nvSpPr>
          <p:spPr>
            <a:xfrm>
              <a:off x="0" y="-38100"/>
              <a:ext cx="892413" cy="341237"/>
            </a:xfrm>
            <a:prstGeom prst="rect">
              <a:avLst/>
            </a:prstGeom>
          </p:spPr>
          <p:txBody>
            <a:bodyPr anchor="ctr" rtlCol="false" tIns="50800" lIns="50800" bIns="50800" rIns="50800"/>
            <a:lstStyle/>
            <a:p>
              <a:pPr algn="ctr" marL="0" indent="0" lvl="0">
                <a:lnSpc>
                  <a:spcPts val="2659"/>
                </a:lnSpc>
              </a:pPr>
            </a:p>
          </p:txBody>
        </p:sp>
      </p:grpSp>
      <p:grpSp>
        <p:nvGrpSpPr>
          <p:cNvPr name="Group 20" id="20"/>
          <p:cNvGrpSpPr/>
          <p:nvPr/>
        </p:nvGrpSpPr>
        <p:grpSpPr>
          <a:xfrm rot="0">
            <a:off x="5077915" y="5031755"/>
            <a:ext cx="3388380" cy="4175410"/>
            <a:chOff x="0" y="0"/>
            <a:chExt cx="892413" cy="1099697"/>
          </a:xfrm>
        </p:grpSpPr>
        <p:sp>
          <p:nvSpPr>
            <p:cNvPr name="Freeform 21" id="21"/>
            <p:cNvSpPr/>
            <p:nvPr/>
          </p:nvSpPr>
          <p:spPr>
            <a:xfrm flipH="false" flipV="false" rot="0">
              <a:off x="0" y="0"/>
              <a:ext cx="892413" cy="1099697"/>
            </a:xfrm>
            <a:custGeom>
              <a:avLst/>
              <a:gdLst/>
              <a:ahLst/>
              <a:cxnLst/>
              <a:rect r="r" b="b" t="t" l="l"/>
              <a:pathLst>
                <a:path h="1099697" w="892413">
                  <a:moveTo>
                    <a:pt x="29703" y="0"/>
                  </a:moveTo>
                  <a:lnTo>
                    <a:pt x="862710" y="0"/>
                  </a:lnTo>
                  <a:cubicBezTo>
                    <a:pt x="879114" y="0"/>
                    <a:pt x="892413" y="13298"/>
                    <a:pt x="892413" y="29703"/>
                  </a:cubicBezTo>
                  <a:lnTo>
                    <a:pt x="892413" y="1069994"/>
                  </a:lnTo>
                  <a:cubicBezTo>
                    <a:pt x="892413" y="1086398"/>
                    <a:pt x="879114" y="1099697"/>
                    <a:pt x="862710" y="1099697"/>
                  </a:cubicBezTo>
                  <a:lnTo>
                    <a:pt x="29703" y="1099697"/>
                  </a:lnTo>
                  <a:cubicBezTo>
                    <a:pt x="13298" y="1099697"/>
                    <a:pt x="0" y="1086398"/>
                    <a:pt x="0" y="1069994"/>
                  </a:cubicBezTo>
                  <a:lnTo>
                    <a:pt x="0" y="29703"/>
                  </a:lnTo>
                  <a:cubicBezTo>
                    <a:pt x="0" y="13298"/>
                    <a:pt x="13298" y="0"/>
                    <a:pt x="29703" y="0"/>
                  </a:cubicBezTo>
                  <a:close/>
                </a:path>
              </a:pathLst>
            </a:custGeom>
            <a:solidFill>
              <a:srgbClr val="FFFFFF"/>
            </a:solidFill>
            <a:ln w="28575" cap="sq">
              <a:solidFill>
                <a:srgbClr val="302721"/>
              </a:solidFill>
              <a:prstDash val="solid"/>
              <a:miter/>
            </a:ln>
          </p:spPr>
        </p:sp>
        <p:sp>
          <p:nvSpPr>
            <p:cNvPr name="TextBox 22" id="22"/>
            <p:cNvSpPr txBox="true"/>
            <p:nvPr/>
          </p:nvSpPr>
          <p:spPr>
            <a:xfrm>
              <a:off x="0" y="-38100"/>
              <a:ext cx="892413" cy="1137797"/>
            </a:xfrm>
            <a:prstGeom prst="rect">
              <a:avLst/>
            </a:prstGeom>
          </p:spPr>
          <p:txBody>
            <a:bodyPr anchor="ctr" rtlCol="false" tIns="50800" lIns="50800" bIns="50800" rIns="50800"/>
            <a:lstStyle/>
            <a:p>
              <a:pPr algn="ctr" marL="0" indent="0" lvl="0">
                <a:lnSpc>
                  <a:spcPts val="2659"/>
                </a:lnSpc>
              </a:pPr>
            </a:p>
          </p:txBody>
        </p:sp>
      </p:grpSp>
      <p:grpSp>
        <p:nvGrpSpPr>
          <p:cNvPr name="Group 23" id="23"/>
          <p:cNvGrpSpPr/>
          <p:nvPr/>
        </p:nvGrpSpPr>
        <p:grpSpPr>
          <a:xfrm rot="0">
            <a:off x="5077915" y="5031755"/>
            <a:ext cx="3388380" cy="1150972"/>
            <a:chOff x="0" y="0"/>
            <a:chExt cx="892413" cy="303137"/>
          </a:xfrm>
        </p:grpSpPr>
        <p:sp>
          <p:nvSpPr>
            <p:cNvPr name="Freeform 24" id="24"/>
            <p:cNvSpPr/>
            <p:nvPr/>
          </p:nvSpPr>
          <p:spPr>
            <a:xfrm flipH="false" flipV="false" rot="0">
              <a:off x="0" y="0"/>
              <a:ext cx="892413" cy="303137"/>
            </a:xfrm>
            <a:custGeom>
              <a:avLst/>
              <a:gdLst/>
              <a:ahLst/>
              <a:cxnLst/>
              <a:rect r="r" b="b" t="t" l="l"/>
              <a:pathLst>
                <a:path h="303137" w="892413">
                  <a:moveTo>
                    <a:pt x="29703" y="0"/>
                  </a:moveTo>
                  <a:lnTo>
                    <a:pt x="862710" y="0"/>
                  </a:lnTo>
                  <a:cubicBezTo>
                    <a:pt x="879114" y="0"/>
                    <a:pt x="892413" y="13298"/>
                    <a:pt x="892413" y="29703"/>
                  </a:cubicBezTo>
                  <a:lnTo>
                    <a:pt x="892413" y="273434"/>
                  </a:lnTo>
                  <a:cubicBezTo>
                    <a:pt x="892413" y="289838"/>
                    <a:pt x="879114" y="303137"/>
                    <a:pt x="862710" y="303137"/>
                  </a:cubicBezTo>
                  <a:lnTo>
                    <a:pt x="29703" y="303137"/>
                  </a:lnTo>
                  <a:cubicBezTo>
                    <a:pt x="13298" y="303137"/>
                    <a:pt x="0" y="289838"/>
                    <a:pt x="0" y="273434"/>
                  </a:cubicBezTo>
                  <a:lnTo>
                    <a:pt x="0" y="29703"/>
                  </a:lnTo>
                  <a:cubicBezTo>
                    <a:pt x="0" y="13298"/>
                    <a:pt x="13298" y="0"/>
                    <a:pt x="29703" y="0"/>
                  </a:cubicBezTo>
                  <a:close/>
                </a:path>
              </a:pathLst>
            </a:custGeom>
            <a:solidFill>
              <a:srgbClr val="302721"/>
            </a:solidFill>
          </p:spPr>
        </p:sp>
        <p:sp>
          <p:nvSpPr>
            <p:cNvPr name="TextBox 25" id="25"/>
            <p:cNvSpPr txBox="true"/>
            <p:nvPr/>
          </p:nvSpPr>
          <p:spPr>
            <a:xfrm>
              <a:off x="0" y="-38100"/>
              <a:ext cx="892413" cy="341237"/>
            </a:xfrm>
            <a:prstGeom prst="rect">
              <a:avLst/>
            </a:prstGeom>
          </p:spPr>
          <p:txBody>
            <a:bodyPr anchor="ctr" rtlCol="false" tIns="50800" lIns="50800" bIns="50800" rIns="50800"/>
            <a:lstStyle/>
            <a:p>
              <a:pPr algn="ctr" marL="0" indent="0" lvl="0">
                <a:lnSpc>
                  <a:spcPts val="2659"/>
                </a:lnSpc>
              </a:pPr>
            </a:p>
          </p:txBody>
        </p:sp>
      </p:grpSp>
      <p:sp>
        <p:nvSpPr>
          <p:cNvPr name="Freeform 26" id="26"/>
          <p:cNvSpPr/>
          <p:nvPr/>
        </p:nvSpPr>
        <p:spPr>
          <a:xfrm flipH="false" flipV="false" rot="0">
            <a:off x="16997449" y="-366638"/>
            <a:ext cx="2581102" cy="4114800"/>
          </a:xfrm>
          <a:custGeom>
            <a:avLst/>
            <a:gdLst/>
            <a:ahLst/>
            <a:cxnLst/>
            <a:rect r="r" b="b" t="t" l="l"/>
            <a:pathLst>
              <a:path h="4114800" w="2581102">
                <a:moveTo>
                  <a:pt x="0" y="0"/>
                </a:moveTo>
                <a:lnTo>
                  <a:pt x="2581102" y="0"/>
                </a:lnTo>
                <a:lnTo>
                  <a:pt x="2581102"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7" id="27"/>
          <p:cNvSpPr txBox="true"/>
          <p:nvPr/>
        </p:nvSpPr>
        <p:spPr>
          <a:xfrm rot="0">
            <a:off x="10947725" y="1445147"/>
            <a:ext cx="5869810" cy="846487"/>
          </a:xfrm>
          <a:prstGeom prst="rect">
            <a:avLst/>
          </a:prstGeom>
        </p:spPr>
        <p:txBody>
          <a:bodyPr anchor="t" rtlCol="false" tIns="0" lIns="0" bIns="0" rIns="0">
            <a:spAutoFit/>
          </a:bodyPr>
          <a:lstStyle/>
          <a:p>
            <a:pPr algn="r" marL="0" indent="0" lvl="0">
              <a:lnSpc>
                <a:spcPts val="5951"/>
              </a:lnSpc>
            </a:pPr>
            <a:r>
              <a:rPr lang="en-US" b="true" sz="5951">
                <a:solidFill>
                  <a:srgbClr val="000000"/>
                </a:solidFill>
                <a:latin typeface="Poppins Bold"/>
                <a:ea typeface="Poppins Bold"/>
                <a:cs typeface="Poppins Bold"/>
                <a:sym typeface="Poppins Bold"/>
              </a:rPr>
              <a:t>Organization &amp;</a:t>
            </a:r>
          </a:p>
        </p:txBody>
      </p:sp>
      <p:sp>
        <p:nvSpPr>
          <p:cNvPr name="TextBox 28" id="28"/>
          <p:cNvSpPr txBox="true"/>
          <p:nvPr/>
        </p:nvSpPr>
        <p:spPr>
          <a:xfrm rot="0">
            <a:off x="6283396" y="2399877"/>
            <a:ext cx="10534140" cy="846487"/>
          </a:xfrm>
          <a:prstGeom prst="rect">
            <a:avLst/>
          </a:prstGeom>
        </p:spPr>
        <p:txBody>
          <a:bodyPr anchor="t" rtlCol="false" tIns="0" lIns="0" bIns="0" rIns="0">
            <a:spAutoFit/>
          </a:bodyPr>
          <a:lstStyle/>
          <a:p>
            <a:pPr algn="r" marL="0" indent="0" lvl="0">
              <a:lnSpc>
                <a:spcPts val="5951"/>
              </a:lnSpc>
            </a:pPr>
            <a:r>
              <a:rPr lang="en-US" b="true" sz="5951">
                <a:solidFill>
                  <a:srgbClr val="D67938"/>
                </a:solidFill>
                <a:latin typeface="Poppins Bold"/>
                <a:ea typeface="Poppins Bold"/>
                <a:cs typeface="Poppins Bold"/>
                <a:sym typeface="Poppins Bold"/>
              </a:rPr>
              <a:t>Internship Overview</a:t>
            </a:r>
          </a:p>
        </p:txBody>
      </p:sp>
      <p:sp>
        <p:nvSpPr>
          <p:cNvPr name="TextBox 29" id="29"/>
          <p:cNvSpPr txBox="true"/>
          <p:nvPr/>
        </p:nvSpPr>
        <p:spPr>
          <a:xfrm rot="0">
            <a:off x="2465179" y="1042847"/>
            <a:ext cx="4876703" cy="457882"/>
          </a:xfrm>
          <a:prstGeom prst="rect">
            <a:avLst/>
          </a:prstGeom>
        </p:spPr>
        <p:txBody>
          <a:bodyPr anchor="t" rtlCol="false" tIns="0" lIns="0" bIns="0" rIns="0">
            <a:spAutoFit/>
          </a:bodyPr>
          <a:lstStyle/>
          <a:p>
            <a:pPr algn="just" marL="0" indent="0" lvl="0">
              <a:lnSpc>
                <a:spcPts val="3637"/>
              </a:lnSpc>
            </a:pPr>
            <a:r>
              <a:rPr lang="en-US" sz="2598" spc="51">
                <a:solidFill>
                  <a:srgbClr val="000000"/>
                </a:solidFill>
                <a:latin typeface="Poppins"/>
                <a:ea typeface="Poppins"/>
                <a:cs typeface="Poppins"/>
                <a:sym typeface="Poppins"/>
              </a:rPr>
              <a:t>Trijal Singh | H4ZP Internship</a:t>
            </a:r>
          </a:p>
        </p:txBody>
      </p:sp>
      <p:sp>
        <p:nvSpPr>
          <p:cNvPr name="TextBox 30" id="30"/>
          <p:cNvSpPr txBox="true"/>
          <p:nvPr/>
        </p:nvSpPr>
        <p:spPr>
          <a:xfrm rot="0">
            <a:off x="7409224" y="3735233"/>
            <a:ext cx="9408311" cy="754331"/>
          </a:xfrm>
          <a:prstGeom prst="rect">
            <a:avLst/>
          </a:prstGeom>
        </p:spPr>
        <p:txBody>
          <a:bodyPr anchor="t" rtlCol="false" tIns="0" lIns="0" bIns="0" rIns="0">
            <a:spAutoFit/>
          </a:bodyPr>
          <a:lstStyle/>
          <a:p>
            <a:pPr algn="r" marL="0" indent="0" lvl="0">
              <a:lnSpc>
                <a:spcPts val="1997"/>
              </a:lnSpc>
            </a:pPr>
            <a:r>
              <a:rPr lang="en-US" sz="1426" spc="28">
                <a:solidFill>
                  <a:srgbClr val="000000"/>
                </a:solidFill>
                <a:latin typeface="Poppins"/>
                <a:ea typeface="Poppins"/>
                <a:cs typeface="Poppins"/>
                <a:sym typeface="Poppins"/>
              </a:rPr>
              <a:t>Hands 4 Zero Poverty Trust (H4ZP) is a non-profit organization committed to poverty alleviation and community development. Trijal Singh supported digital documentation and record management during June–July 2026.</a:t>
            </a:r>
          </a:p>
        </p:txBody>
      </p:sp>
      <p:sp>
        <p:nvSpPr>
          <p:cNvPr name="TextBox 31" id="31"/>
          <p:cNvSpPr txBox="true"/>
          <p:nvPr/>
        </p:nvSpPr>
        <p:spPr>
          <a:xfrm rot="0">
            <a:off x="13709341" y="6420852"/>
            <a:ext cx="2828010" cy="1833951"/>
          </a:xfrm>
          <a:prstGeom prst="rect">
            <a:avLst/>
          </a:prstGeom>
        </p:spPr>
        <p:txBody>
          <a:bodyPr anchor="t" rtlCol="false" tIns="0" lIns="0" bIns="0" rIns="0">
            <a:spAutoFit/>
          </a:bodyPr>
          <a:lstStyle/>
          <a:p>
            <a:pPr algn="ctr" marL="0" indent="0" lvl="0">
              <a:lnSpc>
                <a:spcPts val="1816"/>
              </a:lnSpc>
            </a:pPr>
            <a:r>
              <a:rPr lang="en-US" sz="1297" spc="25">
                <a:solidFill>
                  <a:srgbClr val="020D20"/>
                </a:solidFill>
                <a:latin typeface="Poppins"/>
                <a:ea typeface="Poppins"/>
                <a:cs typeface="Poppins"/>
                <a:sym typeface="Poppins"/>
              </a:rPr>
              <a:t>The organization relied on fragmented, paper-based records with limited digital infrastructure. Key challenges included inconsistent file naming, lack of version control, and absence of a centralized document management system.</a:t>
            </a:r>
          </a:p>
        </p:txBody>
      </p:sp>
      <p:sp>
        <p:nvSpPr>
          <p:cNvPr name="TextBox 32" id="32"/>
          <p:cNvSpPr txBox="true"/>
          <p:nvPr/>
        </p:nvSpPr>
        <p:spPr>
          <a:xfrm rot="0">
            <a:off x="9533721" y="6420852"/>
            <a:ext cx="2828010" cy="1605351"/>
          </a:xfrm>
          <a:prstGeom prst="rect">
            <a:avLst/>
          </a:prstGeom>
        </p:spPr>
        <p:txBody>
          <a:bodyPr anchor="t" rtlCol="false" tIns="0" lIns="0" bIns="0" rIns="0">
            <a:spAutoFit/>
          </a:bodyPr>
          <a:lstStyle/>
          <a:p>
            <a:pPr algn="ctr" marL="0" indent="0" lvl="0">
              <a:lnSpc>
                <a:spcPts val="1816"/>
              </a:lnSpc>
            </a:pPr>
            <a:r>
              <a:rPr lang="en-US" sz="1297" spc="25">
                <a:solidFill>
                  <a:srgbClr val="020D20"/>
                </a:solidFill>
                <a:latin typeface="Poppins"/>
                <a:ea typeface="Poppins"/>
                <a:cs typeface="Poppins"/>
                <a:sym typeface="Poppins"/>
              </a:rPr>
              <a:t>Trijal Singh served as a Digital Documentation Support Intern, assisting in organizing records, digitizing physical files, and maintaining structured data repositories to improve operational efficiency.</a:t>
            </a:r>
          </a:p>
        </p:txBody>
      </p:sp>
      <p:sp>
        <p:nvSpPr>
          <p:cNvPr name="TextBox 33" id="33"/>
          <p:cNvSpPr txBox="true"/>
          <p:nvPr/>
        </p:nvSpPr>
        <p:spPr>
          <a:xfrm rot="0">
            <a:off x="13507403" y="5278236"/>
            <a:ext cx="3147295" cy="218970"/>
          </a:xfrm>
          <a:prstGeom prst="rect">
            <a:avLst/>
          </a:prstGeom>
        </p:spPr>
        <p:txBody>
          <a:bodyPr anchor="t" rtlCol="false" tIns="0" lIns="0" bIns="0" rIns="0">
            <a:spAutoFit/>
          </a:bodyPr>
          <a:lstStyle/>
          <a:p>
            <a:pPr algn="ctr" marL="0" indent="0" lvl="0">
              <a:lnSpc>
                <a:spcPts val="1640"/>
              </a:lnSpc>
            </a:pPr>
            <a:r>
              <a:rPr lang="en-US" b="true" sz="1491" spc="29">
                <a:solidFill>
                  <a:srgbClr val="FFFFFF"/>
                </a:solidFill>
                <a:latin typeface="Poppins Medium"/>
                <a:ea typeface="Poppins Medium"/>
                <a:cs typeface="Poppins Medium"/>
                <a:sym typeface="Poppins Medium"/>
              </a:rPr>
              <a:t>Documentation Environment</a:t>
            </a:r>
          </a:p>
        </p:txBody>
      </p:sp>
      <p:sp>
        <p:nvSpPr>
          <p:cNvPr name="TextBox 34" id="34"/>
          <p:cNvSpPr txBox="true"/>
          <p:nvPr/>
        </p:nvSpPr>
        <p:spPr>
          <a:xfrm rot="0">
            <a:off x="9331783" y="5278236"/>
            <a:ext cx="3147295" cy="218970"/>
          </a:xfrm>
          <a:prstGeom prst="rect">
            <a:avLst/>
          </a:prstGeom>
        </p:spPr>
        <p:txBody>
          <a:bodyPr anchor="t" rtlCol="false" tIns="0" lIns="0" bIns="0" rIns="0">
            <a:spAutoFit/>
          </a:bodyPr>
          <a:lstStyle/>
          <a:p>
            <a:pPr algn="ctr" marL="0" indent="0" lvl="0">
              <a:lnSpc>
                <a:spcPts val="1640"/>
              </a:lnSpc>
            </a:pPr>
            <a:r>
              <a:rPr lang="en-US" b="true" sz="1491" spc="29">
                <a:solidFill>
                  <a:srgbClr val="FFFFFF"/>
                </a:solidFill>
                <a:latin typeface="Poppins Medium"/>
                <a:ea typeface="Poppins Medium"/>
                <a:cs typeface="Poppins Medium"/>
                <a:sym typeface="Poppins Medium"/>
              </a:rPr>
              <a:t>Internship Role</a:t>
            </a:r>
          </a:p>
        </p:txBody>
      </p:sp>
      <p:sp>
        <p:nvSpPr>
          <p:cNvPr name="TextBox 35" id="35"/>
          <p:cNvSpPr txBox="true"/>
          <p:nvPr/>
        </p:nvSpPr>
        <p:spPr>
          <a:xfrm rot="0">
            <a:off x="5358100" y="6420852"/>
            <a:ext cx="2828010" cy="1833951"/>
          </a:xfrm>
          <a:prstGeom prst="rect">
            <a:avLst/>
          </a:prstGeom>
        </p:spPr>
        <p:txBody>
          <a:bodyPr anchor="t" rtlCol="false" tIns="0" lIns="0" bIns="0" rIns="0">
            <a:spAutoFit/>
          </a:bodyPr>
          <a:lstStyle/>
          <a:p>
            <a:pPr algn="ctr" marL="0" indent="0" lvl="0">
              <a:lnSpc>
                <a:spcPts val="1816"/>
              </a:lnSpc>
            </a:pPr>
            <a:r>
              <a:rPr lang="en-US" sz="1297" spc="25">
                <a:solidFill>
                  <a:srgbClr val="020D20"/>
                </a:solidFill>
                <a:latin typeface="Poppins"/>
                <a:ea typeface="Poppins"/>
                <a:cs typeface="Poppins"/>
                <a:sym typeface="Poppins"/>
              </a:rPr>
              <a:t>H4ZP operates across multiple community programs focusing on education, health, and livelihood support. The trust manages extensive beneficiary data, project reports, and donor records requiring systematic digital management.</a:t>
            </a:r>
          </a:p>
        </p:txBody>
      </p:sp>
      <p:sp>
        <p:nvSpPr>
          <p:cNvPr name="TextBox 36" id="36"/>
          <p:cNvSpPr txBox="true"/>
          <p:nvPr/>
        </p:nvSpPr>
        <p:spPr>
          <a:xfrm rot="0">
            <a:off x="5156162" y="5278236"/>
            <a:ext cx="3147295" cy="218970"/>
          </a:xfrm>
          <a:prstGeom prst="rect">
            <a:avLst/>
          </a:prstGeom>
        </p:spPr>
        <p:txBody>
          <a:bodyPr anchor="t" rtlCol="false" tIns="0" lIns="0" bIns="0" rIns="0">
            <a:spAutoFit/>
          </a:bodyPr>
          <a:lstStyle/>
          <a:p>
            <a:pPr algn="ctr" marL="0" indent="0" lvl="0">
              <a:lnSpc>
                <a:spcPts val="1640"/>
              </a:lnSpc>
            </a:pPr>
            <a:r>
              <a:rPr lang="en-US" b="true" sz="1491" spc="29">
                <a:solidFill>
                  <a:srgbClr val="FFFFFF"/>
                </a:solidFill>
                <a:latin typeface="Poppins Medium"/>
                <a:ea typeface="Poppins Medium"/>
                <a:cs typeface="Poppins Medium"/>
                <a:sym typeface="Poppins Medium"/>
              </a:rPr>
              <a:t>About H4ZP</a:t>
            </a:r>
          </a:p>
        </p:txBody>
      </p:sp>
      <p:sp>
        <p:nvSpPr>
          <p:cNvPr name="Freeform 37" id="37"/>
          <p:cNvSpPr/>
          <p:nvPr/>
        </p:nvSpPr>
        <p:spPr>
          <a:xfrm flipH="false" flipV="false" rot="0">
            <a:off x="16257640" y="929277"/>
            <a:ext cx="1479619" cy="180244"/>
          </a:xfrm>
          <a:custGeom>
            <a:avLst/>
            <a:gdLst/>
            <a:ahLst/>
            <a:cxnLst/>
            <a:rect r="r" b="b" t="t" l="l"/>
            <a:pathLst>
              <a:path h="180244" w="1479619">
                <a:moveTo>
                  <a:pt x="0" y="0"/>
                </a:moveTo>
                <a:lnTo>
                  <a:pt x="1479619" y="0"/>
                </a:lnTo>
                <a:lnTo>
                  <a:pt x="1479619" y="180245"/>
                </a:lnTo>
                <a:lnTo>
                  <a:pt x="0" y="18024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16666" r="0" b="-16666"/>
            </a:stretch>
          </a:blipFill>
        </p:spPr>
      </p:sp>
      <p:sp>
        <p:nvSpPr>
          <p:cNvPr name="Freeform 3" id="3"/>
          <p:cNvSpPr/>
          <p:nvPr/>
        </p:nvSpPr>
        <p:spPr>
          <a:xfrm flipH="true" flipV="false" rot="0">
            <a:off x="-477585" y="-280829"/>
            <a:ext cx="1818974" cy="2899813"/>
          </a:xfrm>
          <a:custGeom>
            <a:avLst/>
            <a:gdLst/>
            <a:ahLst/>
            <a:cxnLst/>
            <a:rect r="r" b="b" t="t" l="l"/>
            <a:pathLst>
              <a:path h="2899813" w="1818974">
                <a:moveTo>
                  <a:pt x="1818974" y="0"/>
                </a:moveTo>
                <a:lnTo>
                  <a:pt x="0" y="0"/>
                </a:lnTo>
                <a:lnTo>
                  <a:pt x="0" y="2899813"/>
                </a:lnTo>
                <a:lnTo>
                  <a:pt x="1818974" y="2899813"/>
                </a:lnTo>
                <a:lnTo>
                  <a:pt x="1818974"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84642" y="1109229"/>
            <a:ext cx="810828" cy="552837"/>
          </a:xfrm>
          <a:custGeom>
            <a:avLst/>
            <a:gdLst/>
            <a:ahLst/>
            <a:cxnLst/>
            <a:rect r="r" b="b" t="t" l="l"/>
            <a:pathLst>
              <a:path h="552837" w="810828">
                <a:moveTo>
                  <a:pt x="0" y="0"/>
                </a:moveTo>
                <a:lnTo>
                  <a:pt x="810828" y="0"/>
                </a:lnTo>
                <a:lnTo>
                  <a:pt x="810828" y="552837"/>
                </a:lnTo>
                <a:lnTo>
                  <a:pt x="0" y="5528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2465179" y="1123376"/>
            <a:ext cx="4876703" cy="392398"/>
          </a:xfrm>
          <a:prstGeom prst="rect">
            <a:avLst/>
          </a:prstGeom>
        </p:spPr>
        <p:txBody>
          <a:bodyPr anchor="t" rtlCol="false" tIns="0" lIns="0" bIns="0" rIns="0">
            <a:spAutoFit/>
          </a:bodyPr>
          <a:lstStyle/>
          <a:p>
            <a:pPr algn="just" marL="0" indent="0" lvl="0">
              <a:lnSpc>
                <a:spcPts val="3046"/>
              </a:lnSpc>
            </a:pPr>
            <a:r>
              <a:rPr lang="en-US" sz="2176" spc="43">
                <a:solidFill>
                  <a:srgbClr val="000000"/>
                </a:solidFill>
                <a:latin typeface="Poppins"/>
                <a:ea typeface="Poppins"/>
                <a:cs typeface="Poppins"/>
                <a:sym typeface="Poppins"/>
              </a:rPr>
              <a:t>Hands 4 Zero Poverty Trust (H4ZP)</a:t>
            </a:r>
          </a:p>
        </p:txBody>
      </p:sp>
      <p:sp>
        <p:nvSpPr>
          <p:cNvPr name="TextBox 6" id="6"/>
          <p:cNvSpPr txBox="true"/>
          <p:nvPr/>
        </p:nvSpPr>
        <p:spPr>
          <a:xfrm rot="0">
            <a:off x="1484642" y="2151344"/>
            <a:ext cx="5869810" cy="1011426"/>
          </a:xfrm>
          <a:prstGeom prst="rect">
            <a:avLst/>
          </a:prstGeom>
        </p:spPr>
        <p:txBody>
          <a:bodyPr anchor="t" rtlCol="false" tIns="0" lIns="0" bIns="0" rIns="0">
            <a:spAutoFit/>
          </a:bodyPr>
          <a:lstStyle/>
          <a:p>
            <a:pPr algn="l" marL="0" indent="0" lvl="0">
              <a:lnSpc>
                <a:spcPts val="7194"/>
              </a:lnSpc>
            </a:pPr>
            <a:r>
              <a:rPr lang="en-US" b="true" sz="7194">
                <a:solidFill>
                  <a:srgbClr val="000000"/>
                </a:solidFill>
                <a:latin typeface="Poppins Bold"/>
                <a:ea typeface="Poppins Bold"/>
                <a:cs typeface="Poppins Bold"/>
                <a:sym typeface="Poppins Bold"/>
              </a:rPr>
              <a:t>Workflow</a:t>
            </a:r>
          </a:p>
        </p:txBody>
      </p:sp>
      <p:sp>
        <p:nvSpPr>
          <p:cNvPr name="TextBox 7" id="7"/>
          <p:cNvSpPr txBox="true"/>
          <p:nvPr/>
        </p:nvSpPr>
        <p:spPr>
          <a:xfrm rot="0">
            <a:off x="5278250" y="2151371"/>
            <a:ext cx="4883023" cy="1011426"/>
          </a:xfrm>
          <a:prstGeom prst="rect">
            <a:avLst/>
          </a:prstGeom>
        </p:spPr>
        <p:txBody>
          <a:bodyPr anchor="t" rtlCol="false" tIns="0" lIns="0" bIns="0" rIns="0">
            <a:spAutoFit/>
          </a:bodyPr>
          <a:lstStyle/>
          <a:p>
            <a:pPr algn="r" marL="0" indent="0" lvl="0">
              <a:lnSpc>
                <a:spcPts val="7194"/>
              </a:lnSpc>
            </a:pPr>
            <a:r>
              <a:rPr lang="en-US" b="true" sz="7194">
                <a:solidFill>
                  <a:srgbClr val="D67938"/>
                </a:solidFill>
                <a:latin typeface="Poppins Bold"/>
                <a:ea typeface="Poppins Bold"/>
                <a:cs typeface="Poppins Bold"/>
                <a:sym typeface="Poppins Bold"/>
              </a:rPr>
              <a:t>Analysis</a:t>
            </a:r>
          </a:p>
        </p:txBody>
      </p:sp>
      <p:sp>
        <p:nvSpPr>
          <p:cNvPr name="Freeform 8" id="8"/>
          <p:cNvSpPr/>
          <p:nvPr/>
        </p:nvSpPr>
        <p:spPr>
          <a:xfrm flipH="false" flipV="false" rot="0">
            <a:off x="12474736" y="8153781"/>
            <a:ext cx="5763112" cy="3038732"/>
          </a:xfrm>
          <a:custGeom>
            <a:avLst/>
            <a:gdLst/>
            <a:ahLst/>
            <a:cxnLst/>
            <a:rect r="r" b="b" t="t" l="l"/>
            <a:pathLst>
              <a:path h="3038732" w="5763112">
                <a:moveTo>
                  <a:pt x="0" y="0"/>
                </a:moveTo>
                <a:lnTo>
                  <a:pt x="5763112" y="0"/>
                </a:lnTo>
                <a:lnTo>
                  <a:pt x="5763112" y="3038732"/>
                </a:lnTo>
                <a:lnTo>
                  <a:pt x="0" y="303873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true" flipV="true" rot="0">
            <a:off x="12129722" y="-540769"/>
            <a:ext cx="6453139" cy="4405671"/>
          </a:xfrm>
          <a:custGeom>
            <a:avLst/>
            <a:gdLst/>
            <a:ahLst/>
            <a:cxnLst/>
            <a:rect r="r" b="b" t="t" l="l"/>
            <a:pathLst>
              <a:path h="4405671" w="6453139">
                <a:moveTo>
                  <a:pt x="6453140" y="4405671"/>
                </a:moveTo>
                <a:lnTo>
                  <a:pt x="0" y="4405671"/>
                </a:lnTo>
                <a:lnTo>
                  <a:pt x="0" y="0"/>
                </a:lnTo>
                <a:lnTo>
                  <a:pt x="6453140" y="0"/>
                </a:lnTo>
                <a:lnTo>
                  <a:pt x="6453140" y="4405671"/>
                </a:lnTo>
                <a:close/>
              </a:path>
            </a:pathLst>
          </a:custGeom>
          <a:blipFill>
            <a:blip r:embed="rId9">
              <a:extLst>
                <a:ext uri="{96DAC541-7B7A-43D3-8B79-37D633B846F1}">
                  <asvg:svgBlip xmlns:asvg="http://schemas.microsoft.com/office/drawing/2016/SVG/main" r:embed="rId10"/>
                </a:ext>
              </a:extLst>
            </a:blip>
            <a:stretch>
              <a:fillRect l="0" t="-35288" r="0" b="0"/>
            </a:stretch>
          </a:blipFill>
        </p:spPr>
      </p:sp>
      <p:pic>
        <p:nvPicPr>
          <p:cNvPr name="Picture 10" id="10"/>
          <p:cNvPicPr>
            <a:picLocks noChangeAspect="true"/>
          </p:cNvPicPr>
          <p:nvPr/>
        </p:nvPicPr>
        <p:blipFill>
          <a:blip r:embed="rId11"/>
          <a:stretch>
            <a:fillRect/>
          </a:stretch>
        </p:blipFill>
        <p:spPr>
          <a:xfrm rot="0">
            <a:off x="886530" y="2951921"/>
            <a:ext cx="7177342" cy="6612627"/>
          </a:xfrm>
          <a:prstGeom prst="rect">
            <a:avLst/>
          </a:prstGeom>
        </p:spPr>
      </p:pic>
      <p:sp>
        <p:nvSpPr>
          <p:cNvPr name="Freeform 11" id="11"/>
          <p:cNvSpPr/>
          <p:nvPr/>
        </p:nvSpPr>
        <p:spPr>
          <a:xfrm flipH="false" flipV="false" rot="5400000">
            <a:off x="379648" y="9678525"/>
            <a:ext cx="888656" cy="1034825"/>
          </a:xfrm>
          <a:custGeom>
            <a:avLst/>
            <a:gdLst/>
            <a:ahLst/>
            <a:cxnLst/>
            <a:rect r="r" b="b" t="t" l="l"/>
            <a:pathLst>
              <a:path h="1034825" w="888656">
                <a:moveTo>
                  <a:pt x="0" y="0"/>
                </a:moveTo>
                <a:lnTo>
                  <a:pt x="888656" y="0"/>
                </a:lnTo>
                <a:lnTo>
                  <a:pt x="888656" y="1034825"/>
                </a:lnTo>
                <a:lnTo>
                  <a:pt x="0" y="103482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5400000">
            <a:off x="17843672" y="4133361"/>
            <a:ext cx="888656" cy="1034825"/>
          </a:xfrm>
          <a:custGeom>
            <a:avLst/>
            <a:gdLst/>
            <a:ahLst/>
            <a:cxnLst/>
            <a:rect r="r" b="b" t="t" l="l"/>
            <a:pathLst>
              <a:path h="1034825" w="888656">
                <a:moveTo>
                  <a:pt x="0" y="0"/>
                </a:moveTo>
                <a:lnTo>
                  <a:pt x="888656" y="0"/>
                </a:lnTo>
                <a:lnTo>
                  <a:pt x="888656" y="1034826"/>
                </a:lnTo>
                <a:lnTo>
                  <a:pt x="0" y="103482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0650103" y="1205403"/>
            <a:ext cx="1479619" cy="180244"/>
          </a:xfrm>
          <a:custGeom>
            <a:avLst/>
            <a:gdLst/>
            <a:ahLst/>
            <a:cxnLst/>
            <a:rect r="r" b="b" t="t" l="l"/>
            <a:pathLst>
              <a:path h="180244" w="1479619">
                <a:moveTo>
                  <a:pt x="0" y="0"/>
                </a:moveTo>
                <a:lnTo>
                  <a:pt x="1479619" y="0"/>
                </a:lnTo>
                <a:lnTo>
                  <a:pt x="1479619" y="180245"/>
                </a:lnTo>
                <a:lnTo>
                  <a:pt x="0" y="18024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4" id="14"/>
          <p:cNvGrpSpPr/>
          <p:nvPr/>
        </p:nvGrpSpPr>
        <p:grpSpPr>
          <a:xfrm rot="0">
            <a:off x="8344992" y="3978528"/>
            <a:ext cx="5493923" cy="744367"/>
            <a:chOff x="0" y="0"/>
            <a:chExt cx="1446959" cy="196047"/>
          </a:xfrm>
        </p:grpSpPr>
        <p:sp>
          <p:nvSpPr>
            <p:cNvPr name="Freeform 15" id="15"/>
            <p:cNvSpPr/>
            <p:nvPr/>
          </p:nvSpPr>
          <p:spPr>
            <a:xfrm flipH="false" flipV="false" rot="0">
              <a:off x="0" y="0"/>
              <a:ext cx="1446959" cy="196047"/>
            </a:xfrm>
            <a:custGeom>
              <a:avLst/>
              <a:gdLst/>
              <a:ahLst/>
              <a:cxnLst/>
              <a:rect r="r" b="b" t="t" l="l"/>
              <a:pathLst>
                <a:path h="196047" w="1446959">
                  <a:moveTo>
                    <a:pt x="18319" y="0"/>
                  </a:moveTo>
                  <a:lnTo>
                    <a:pt x="1428640" y="0"/>
                  </a:lnTo>
                  <a:cubicBezTo>
                    <a:pt x="1438757" y="0"/>
                    <a:pt x="1446959" y="8202"/>
                    <a:pt x="1446959" y="18319"/>
                  </a:cubicBezTo>
                  <a:lnTo>
                    <a:pt x="1446959" y="177728"/>
                  </a:lnTo>
                  <a:cubicBezTo>
                    <a:pt x="1446959" y="187846"/>
                    <a:pt x="1438757" y="196047"/>
                    <a:pt x="1428640" y="196047"/>
                  </a:cubicBezTo>
                  <a:lnTo>
                    <a:pt x="18319" y="196047"/>
                  </a:lnTo>
                  <a:cubicBezTo>
                    <a:pt x="8202" y="196047"/>
                    <a:pt x="0" y="187846"/>
                    <a:pt x="0" y="177728"/>
                  </a:cubicBezTo>
                  <a:lnTo>
                    <a:pt x="0" y="18319"/>
                  </a:lnTo>
                  <a:cubicBezTo>
                    <a:pt x="0" y="8202"/>
                    <a:pt x="8202" y="0"/>
                    <a:pt x="18319" y="0"/>
                  </a:cubicBezTo>
                  <a:close/>
                </a:path>
              </a:pathLst>
            </a:custGeom>
            <a:gradFill rotWithShape="true">
              <a:gsLst>
                <a:gs pos="0">
                  <a:srgbClr val="F89D5B">
                    <a:alpha val="100000"/>
                  </a:srgbClr>
                </a:gs>
                <a:gs pos="100000">
                  <a:srgbClr val="D67938">
                    <a:alpha val="100000"/>
                  </a:srgbClr>
                </a:gs>
              </a:gsLst>
              <a:lin ang="0"/>
            </a:gradFill>
          </p:spPr>
        </p:sp>
        <p:sp>
          <p:nvSpPr>
            <p:cNvPr name="TextBox 16" id="16"/>
            <p:cNvSpPr txBox="true"/>
            <p:nvPr/>
          </p:nvSpPr>
          <p:spPr>
            <a:xfrm>
              <a:off x="0" y="-38100"/>
              <a:ext cx="1446959" cy="234147"/>
            </a:xfrm>
            <a:prstGeom prst="rect">
              <a:avLst/>
            </a:prstGeom>
          </p:spPr>
          <p:txBody>
            <a:bodyPr anchor="ctr" rtlCol="false" tIns="50800" lIns="50800" bIns="50800" rIns="50800"/>
            <a:lstStyle/>
            <a:p>
              <a:pPr algn="ctr" marL="0" indent="0" lvl="0">
                <a:lnSpc>
                  <a:spcPts val="2659"/>
                </a:lnSpc>
              </a:pPr>
            </a:p>
          </p:txBody>
        </p:sp>
      </p:grpSp>
      <p:grpSp>
        <p:nvGrpSpPr>
          <p:cNvPr name="Group 17" id="17"/>
          <p:cNvGrpSpPr/>
          <p:nvPr/>
        </p:nvGrpSpPr>
        <p:grpSpPr>
          <a:xfrm rot="0">
            <a:off x="8344992" y="5737029"/>
            <a:ext cx="5493923" cy="744367"/>
            <a:chOff x="0" y="0"/>
            <a:chExt cx="1446959" cy="196047"/>
          </a:xfrm>
        </p:grpSpPr>
        <p:sp>
          <p:nvSpPr>
            <p:cNvPr name="Freeform 18" id="18"/>
            <p:cNvSpPr/>
            <p:nvPr/>
          </p:nvSpPr>
          <p:spPr>
            <a:xfrm flipH="false" flipV="false" rot="0">
              <a:off x="0" y="0"/>
              <a:ext cx="1446959" cy="196047"/>
            </a:xfrm>
            <a:custGeom>
              <a:avLst/>
              <a:gdLst/>
              <a:ahLst/>
              <a:cxnLst/>
              <a:rect r="r" b="b" t="t" l="l"/>
              <a:pathLst>
                <a:path h="196047" w="1446959">
                  <a:moveTo>
                    <a:pt x="18319" y="0"/>
                  </a:moveTo>
                  <a:lnTo>
                    <a:pt x="1428640" y="0"/>
                  </a:lnTo>
                  <a:cubicBezTo>
                    <a:pt x="1438757" y="0"/>
                    <a:pt x="1446959" y="8202"/>
                    <a:pt x="1446959" y="18319"/>
                  </a:cubicBezTo>
                  <a:lnTo>
                    <a:pt x="1446959" y="177728"/>
                  </a:lnTo>
                  <a:cubicBezTo>
                    <a:pt x="1446959" y="187846"/>
                    <a:pt x="1438757" y="196047"/>
                    <a:pt x="1428640" y="196047"/>
                  </a:cubicBezTo>
                  <a:lnTo>
                    <a:pt x="18319" y="196047"/>
                  </a:lnTo>
                  <a:cubicBezTo>
                    <a:pt x="8202" y="196047"/>
                    <a:pt x="0" y="187846"/>
                    <a:pt x="0" y="177728"/>
                  </a:cubicBezTo>
                  <a:lnTo>
                    <a:pt x="0" y="18319"/>
                  </a:lnTo>
                  <a:cubicBezTo>
                    <a:pt x="0" y="8202"/>
                    <a:pt x="8202" y="0"/>
                    <a:pt x="18319" y="0"/>
                  </a:cubicBezTo>
                  <a:close/>
                </a:path>
              </a:pathLst>
            </a:custGeom>
            <a:gradFill rotWithShape="true">
              <a:gsLst>
                <a:gs pos="0">
                  <a:srgbClr val="F89D5B">
                    <a:alpha val="100000"/>
                  </a:srgbClr>
                </a:gs>
                <a:gs pos="100000">
                  <a:srgbClr val="D67938">
                    <a:alpha val="100000"/>
                  </a:srgbClr>
                </a:gs>
              </a:gsLst>
              <a:lin ang="0"/>
            </a:gradFill>
          </p:spPr>
        </p:sp>
        <p:sp>
          <p:nvSpPr>
            <p:cNvPr name="TextBox 19" id="19"/>
            <p:cNvSpPr txBox="true"/>
            <p:nvPr/>
          </p:nvSpPr>
          <p:spPr>
            <a:xfrm>
              <a:off x="0" y="-38100"/>
              <a:ext cx="1446959" cy="234147"/>
            </a:xfrm>
            <a:prstGeom prst="rect">
              <a:avLst/>
            </a:prstGeom>
          </p:spPr>
          <p:txBody>
            <a:bodyPr anchor="ctr" rtlCol="false" tIns="50800" lIns="50800" bIns="50800" rIns="50800"/>
            <a:lstStyle/>
            <a:p>
              <a:pPr algn="ctr" marL="0" indent="0" lvl="0">
                <a:lnSpc>
                  <a:spcPts val="2659"/>
                </a:lnSpc>
              </a:pPr>
            </a:p>
          </p:txBody>
        </p:sp>
      </p:grpSp>
      <p:sp>
        <p:nvSpPr>
          <p:cNvPr name="TextBox 20" id="20"/>
          <p:cNvSpPr txBox="true"/>
          <p:nvPr/>
        </p:nvSpPr>
        <p:spPr>
          <a:xfrm rot="0">
            <a:off x="8540440" y="4169419"/>
            <a:ext cx="5103028" cy="217551"/>
          </a:xfrm>
          <a:prstGeom prst="rect">
            <a:avLst/>
          </a:prstGeom>
        </p:spPr>
        <p:txBody>
          <a:bodyPr anchor="t" rtlCol="false" tIns="0" lIns="0" bIns="0" rIns="0">
            <a:spAutoFit/>
          </a:bodyPr>
          <a:lstStyle/>
          <a:p>
            <a:pPr algn="ctr" marL="0" indent="0" lvl="0">
              <a:lnSpc>
                <a:spcPts val="1517"/>
              </a:lnSpc>
            </a:pPr>
            <a:r>
              <a:rPr lang="en-US" b="true" sz="1379" spc="27">
                <a:solidFill>
                  <a:srgbClr val="FFFFFF"/>
                </a:solidFill>
                <a:latin typeface="Poppins Medium"/>
                <a:ea typeface="Poppins Medium"/>
                <a:cs typeface="Poppins Medium"/>
                <a:sym typeface="Poppins Medium"/>
              </a:rPr>
              <a:t>Document Intake &amp; Classification</a:t>
            </a:r>
          </a:p>
        </p:txBody>
      </p:sp>
      <p:sp>
        <p:nvSpPr>
          <p:cNvPr name="TextBox 21" id="21"/>
          <p:cNvSpPr txBox="true"/>
          <p:nvPr/>
        </p:nvSpPr>
        <p:spPr>
          <a:xfrm rot="0">
            <a:off x="8540440" y="5927920"/>
            <a:ext cx="5103028" cy="217551"/>
          </a:xfrm>
          <a:prstGeom prst="rect">
            <a:avLst/>
          </a:prstGeom>
        </p:spPr>
        <p:txBody>
          <a:bodyPr anchor="t" rtlCol="false" tIns="0" lIns="0" bIns="0" rIns="0">
            <a:spAutoFit/>
          </a:bodyPr>
          <a:lstStyle/>
          <a:p>
            <a:pPr algn="ctr" marL="0" indent="0" lvl="0">
              <a:lnSpc>
                <a:spcPts val="1517"/>
              </a:lnSpc>
            </a:pPr>
            <a:r>
              <a:rPr lang="en-US" b="true" sz="1379" spc="27">
                <a:solidFill>
                  <a:srgbClr val="FFFFFF"/>
                </a:solidFill>
                <a:latin typeface="Poppins Medium"/>
                <a:ea typeface="Poppins Medium"/>
                <a:cs typeface="Poppins Medium"/>
                <a:sym typeface="Poppins Medium"/>
              </a:rPr>
              <a:t>Digital Indexing &amp; Storage</a:t>
            </a:r>
          </a:p>
        </p:txBody>
      </p:sp>
      <p:sp>
        <p:nvSpPr>
          <p:cNvPr name="TextBox 22" id="22"/>
          <p:cNvSpPr txBox="true"/>
          <p:nvPr/>
        </p:nvSpPr>
        <p:spPr>
          <a:xfrm rot="0">
            <a:off x="8344992" y="4915677"/>
            <a:ext cx="8085441" cy="417195"/>
          </a:xfrm>
          <a:prstGeom prst="rect">
            <a:avLst/>
          </a:prstGeom>
        </p:spPr>
        <p:txBody>
          <a:bodyPr anchor="t" rtlCol="false" tIns="0" lIns="0" bIns="0" rIns="0">
            <a:spAutoFit/>
          </a:bodyPr>
          <a:lstStyle/>
          <a:p>
            <a:pPr algn="l" marL="0" indent="0" lvl="0">
              <a:lnSpc>
                <a:spcPts val="1679"/>
              </a:lnSpc>
            </a:pPr>
            <a:r>
              <a:rPr lang="en-US" sz="1200" spc="24">
                <a:solidFill>
                  <a:srgbClr val="020D20"/>
                </a:solidFill>
                <a:latin typeface="Poppins"/>
                <a:ea typeface="Poppins"/>
                <a:cs typeface="Poppins"/>
                <a:sym typeface="Poppins"/>
              </a:rPr>
              <a:t>Proposed stage: Receiving, sorting, and categorizing incoming records by type, date, and department for systematic entry.</a:t>
            </a:r>
          </a:p>
        </p:txBody>
      </p:sp>
      <p:sp>
        <p:nvSpPr>
          <p:cNvPr name="TextBox 23" id="23"/>
          <p:cNvSpPr txBox="true"/>
          <p:nvPr/>
        </p:nvSpPr>
        <p:spPr>
          <a:xfrm rot="0">
            <a:off x="8344992" y="6674178"/>
            <a:ext cx="8085441" cy="417195"/>
          </a:xfrm>
          <a:prstGeom prst="rect">
            <a:avLst/>
          </a:prstGeom>
        </p:spPr>
        <p:txBody>
          <a:bodyPr anchor="t" rtlCol="false" tIns="0" lIns="0" bIns="0" rIns="0">
            <a:spAutoFit/>
          </a:bodyPr>
          <a:lstStyle/>
          <a:p>
            <a:pPr algn="l" marL="0" indent="0" lvl="0">
              <a:lnSpc>
                <a:spcPts val="1679"/>
              </a:lnSpc>
            </a:pPr>
            <a:r>
              <a:rPr lang="en-US" sz="1200" spc="24">
                <a:solidFill>
                  <a:srgbClr val="020D20"/>
                </a:solidFill>
                <a:latin typeface="Poppins"/>
                <a:ea typeface="Poppins"/>
                <a:cs typeface="Poppins"/>
                <a:sym typeface="Poppins"/>
              </a:rPr>
              <a:t>Proposed stage: Scanning physical documents, applying metadata tags, and organizing files in structured digital folders.</a:t>
            </a:r>
          </a:p>
        </p:txBody>
      </p:sp>
      <p:grpSp>
        <p:nvGrpSpPr>
          <p:cNvPr name="Group 24" id="24"/>
          <p:cNvGrpSpPr/>
          <p:nvPr/>
        </p:nvGrpSpPr>
        <p:grpSpPr>
          <a:xfrm rot="0">
            <a:off x="8344992" y="7495530"/>
            <a:ext cx="5493923" cy="744367"/>
            <a:chOff x="0" y="0"/>
            <a:chExt cx="1446959" cy="196047"/>
          </a:xfrm>
        </p:grpSpPr>
        <p:sp>
          <p:nvSpPr>
            <p:cNvPr name="Freeform 25" id="25"/>
            <p:cNvSpPr/>
            <p:nvPr/>
          </p:nvSpPr>
          <p:spPr>
            <a:xfrm flipH="false" flipV="false" rot="0">
              <a:off x="0" y="0"/>
              <a:ext cx="1446959" cy="196047"/>
            </a:xfrm>
            <a:custGeom>
              <a:avLst/>
              <a:gdLst/>
              <a:ahLst/>
              <a:cxnLst/>
              <a:rect r="r" b="b" t="t" l="l"/>
              <a:pathLst>
                <a:path h="196047" w="1446959">
                  <a:moveTo>
                    <a:pt x="18319" y="0"/>
                  </a:moveTo>
                  <a:lnTo>
                    <a:pt x="1428640" y="0"/>
                  </a:lnTo>
                  <a:cubicBezTo>
                    <a:pt x="1438757" y="0"/>
                    <a:pt x="1446959" y="8202"/>
                    <a:pt x="1446959" y="18319"/>
                  </a:cubicBezTo>
                  <a:lnTo>
                    <a:pt x="1446959" y="177728"/>
                  </a:lnTo>
                  <a:cubicBezTo>
                    <a:pt x="1446959" y="187846"/>
                    <a:pt x="1438757" y="196047"/>
                    <a:pt x="1428640" y="196047"/>
                  </a:cubicBezTo>
                  <a:lnTo>
                    <a:pt x="18319" y="196047"/>
                  </a:lnTo>
                  <a:cubicBezTo>
                    <a:pt x="8202" y="196047"/>
                    <a:pt x="0" y="187846"/>
                    <a:pt x="0" y="177728"/>
                  </a:cubicBezTo>
                  <a:lnTo>
                    <a:pt x="0" y="18319"/>
                  </a:lnTo>
                  <a:cubicBezTo>
                    <a:pt x="0" y="8202"/>
                    <a:pt x="8202" y="0"/>
                    <a:pt x="18319" y="0"/>
                  </a:cubicBezTo>
                  <a:close/>
                </a:path>
              </a:pathLst>
            </a:custGeom>
            <a:gradFill rotWithShape="true">
              <a:gsLst>
                <a:gs pos="0">
                  <a:srgbClr val="F89D5B">
                    <a:alpha val="100000"/>
                  </a:srgbClr>
                </a:gs>
                <a:gs pos="100000">
                  <a:srgbClr val="D67938">
                    <a:alpha val="100000"/>
                  </a:srgbClr>
                </a:gs>
              </a:gsLst>
              <a:lin ang="0"/>
            </a:gradFill>
          </p:spPr>
        </p:sp>
        <p:sp>
          <p:nvSpPr>
            <p:cNvPr name="TextBox 26" id="26"/>
            <p:cNvSpPr txBox="true"/>
            <p:nvPr/>
          </p:nvSpPr>
          <p:spPr>
            <a:xfrm>
              <a:off x="0" y="-38100"/>
              <a:ext cx="1446959" cy="234147"/>
            </a:xfrm>
            <a:prstGeom prst="rect">
              <a:avLst/>
            </a:prstGeom>
          </p:spPr>
          <p:txBody>
            <a:bodyPr anchor="ctr" rtlCol="false" tIns="50800" lIns="50800" bIns="50800" rIns="50800"/>
            <a:lstStyle/>
            <a:p>
              <a:pPr algn="ctr" marL="0" indent="0" lvl="0">
                <a:lnSpc>
                  <a:spcPts val="2659"/>
                </a:lnSpc>
              </a:pPr>
            </a:p>
          </p:txBody>
        </p:sp>
      </p:grpSp>
      <p:sp>
        <p:nvSpPr>
          <p:cNvPr name="TextBox 27" id="27"/>
          <p:cNvSpPr txBox="true"/>
          <p:nvPr/>
        </p:nvSpPr>
        <p:spPr>
          <a:xfrm rot="0">
            <a:off x="8540440" y="7686421"/>
            <a:ext cx="5103028" cy="217551"/>
          </a:xfrm>
          <a:prstGeom prst="rect">
            <a:avLst/>
          </a:prstGeom>
        </p:spPr>
        <p:txBody>
          <a:bodyPr anchor="t" rtlCol="false" tIns="0" lIns="0" bIns="0" rIns="0">
            <a:spAutoFit/>
          </a:bodyPr>
          <a:lstStyle/>
          <a:p>
            <a:pPr algn="ctr" marL="0" indent="0" lvl="0">
              <a:lnSpc>
                <a:spcPts val="1517"/>
              </a:lnSpc>
            </a:pPr>
            <a:r>
              <a:rPr lang="en-US" b="true" sz="1379" spc="27">
                <a:solidFill>
                  <a:srgbClr val="FFFFFF"/>
                </a:solidFill>
                <a:latin typeface="Poppins Medium"/>
                <a:ea typeface="Poppins Medium"/>
                <a:cs typeface="Poppins Medium"/>
                <a:sym typeface="Poppins Medium"/>
              </a:rPr>
              <a:t>Retrieval &amp; Access Control</a:t>
            </a:r>
          </a:p>
        </p:txBody>
      </p:sp>
      <p:sp>
        <p:nvSpPr>
          <p:cNvPr name="TextBox 28" id="28"/>
          <p:cNvSpPr txBox="true"/>
          <p:nvPr/>
        </p:nvSpPr>
        <p:spPr>
          <a:xfrm rot="0">
            <a:off x="8344992" y="8430397"/>
            <a:ext cx="8085441" cy="417195"/>
          </a:xfrm>
          <a:prstGeom prst="rect">
            <a:avLst/>
          </a:prstGeom>
        </p:spPr>
        <p:txBody>
          <a:bodyPr anchor="t" rtlCol="false" tIns="0" lIns="0" bIns="0" rIns="0">
            <a:spAutoFit/>
          </a:bodyPr>
          <a:lstStyle/>
          <a:p>
            <a:pPr algn="l" marL="0" indent="0" lvl="0">
              <a:lnSpc>
                <a:spcPts val="1679"/>
              </a:lnSpc>
            </a:pPr>
            <a:r>
              <a:rPr lang="en-US" sz="1200" spc="24">
                <a:solidFill>
                  <a:srgbClr val="020D20"/>
                </a:solidFill>
                <a:latin typeface="Poppins"/>
                <a:ea typeface="Poppins"/>
                <a:cs typeface="Poppins"/>
                <a:sym typeface="Poppins"/>
              </a:rPr>
              <a:t>Proposed stage: Enabling authorized staff to locate, retrieve, and update records efficiently with role-based access protocols.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16666" r="0" b="-16666"/>
            </a:stretch>
          </a:blipFill>
        </p:spPr>
      </p:sp>
      <p:sp>
        <p:nvSpPr>
          <p:cNvPr name="Freeform 3" id="3"/>
          <p:cNvSpPr/>
          <p:nvPr/>
        </p:nvSpPr>
        <p:spPr>
          <a:xfrm flipH="false" flipV="false" rot="0">
            <a:off x="-1458843" y="6142278"/>
            <a:ext cx="6453139" cy="4405671"/>
          </a:xfrm>
          <a:custGeom>
            <a:avLst/>
            <a:gdLst/>
            <a:ahLst/>
            <a:cxnLst/>
            <a:rect r="r" b="b" t="t" l="l"/>
            <a:pathLst>
              <a:path h="4405671" w="6453139">
                <a:moveTo>
                  <a:pt x="0" y="0"/>
                </a:moveTo>
                <a:lnTo>
                  <a:pt x="6453139" y="0"/>
                </a:lnTo>
                <a:lnTo>
                  <a:pt x="6453139" y="4405671"/>
                </a:lnTo>
                <a:lnTo>
                  <a:pt x="0" y="4405671"/>
                </a:lnTo>
                <a:lnTo>
                  <a:pt x="0" y="0"/>
                </a:lnTo>
                <a:close/>
              </a:path>
            </a:pathLst>
          </a:custGeom>
          <a:blipFill>
            <a:blip r:embed="rId3">
              <a:extLst>
                <a:ext uri="{96DAC541-7B7A-43D3-8B79-37D633B846F1}">
                  <asvg:svgBlip xmlns:asvg="http://schemas.microsoft.com/office/drawing/2016/SVG/main" r:embed="rId4"/>
                </a:ext>
              </a:extLst>
            </a:blip>
            <a:stretch>
              <a:fillRect l="0" t="-35288" r="0" b="0"/>
            </a:stretch>
          </a:blipFill>
        </p:spPr>
      </p:sp>
      <p:sp>
        <p:nvSpPr>
          <p:cNvPr name="Freeform 4" id="4"/>
          <p:cNvSpPr/>
          <p:nvPr/>
        </p:nvSpPr>
        <p:spPr>
          <a:xfrm flipH="false" flipV="false" rot="0">
            <a:off x="1484642" y="1109229"/>
            <a:ext cx="810828" cy="552837"/>
          </a:xfrm>
          <a:custGeom>
            <a:avLst/>
            <a:gdLst/>
            <a:ahLst/>
            <a:cxnLst/>
            <a:rect r="r" b="b" t="t" l="l"/>
            <a:pathLst>
              <a:path h="552837" w="810828">
                <a:moveTo>
                  <a:pt x="0" y="0"/>
                </a:moveTo>
                <a:lnTo>
                  <a:pt x="810828" y="0"/>
                </a:lnTo>
                <a:lnTo>
                  <a:pt x="810828" y="552837"/>
                </a:lnTo>
                <a:lnTo>
                  <a:pt x="0" y="5528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2465179" y="1123376"/>
            <a:ext cx="4876703" cy="392398"/>
          </a:xfrm>
          <a:prstGeom prst="rect">
            <a:avLst/>
          </a:prstGeom>
        </p:spPr>
        <p:txBody>
          <a:bodyPr anchor="t" rtlCol="false" tIns="0" lIns="0" bIns="0" rIns="0">
            <a:spAutoFit/>
          </a:bodyPr>
          <a:lstStyle/>
          <a:p>
            <a:pPr algn="just" marL="0" indent="0" lvl="0">
              <a:lnSpc>
                <a:spcPts val="3046"/>
              </a:lnSpc>
            </a:pPr>
            <a:r>
              <a:rPr lang="en-US" sz="2176" spc="43">
                <a:solidFill>
                  <a:srgbClr val="000000"/>
                </a:solidFill>
                <a:latin typeface="Poppins"/>
                <a:ea typeface="Poppins"/>
                <a:cs typeface="Poppins"/>
                <a:sym typeface="Poppins"/>
              </a:rPr>
              <a:t>Hands 4 Zero Poverty Trust (H4ZP)</a:t>
            </a:r>
          </a:p>
        </p:txBody>
      </p:sp>
      <p:sp>
        <p:nvSpPr>
          <p:cNvPr name="Freeform 6" id="6"/>
          <p:cNvSpPr/>
          <p:nvPr/>
        </p:nvSpPr>
        <p:spPr>
          <a:xfrm flipH="false" flipV="true" rot="0">
            <a:off x="12474736" y="-410136"/>
            <a:ext cx="5763112" cy="3038732"/>
          </a:xfrm>
          <a:custGeom>
            <a:avLst/>
            <a:gdLst/>
            <a:ahLst/>
            <a:cxnLst/>
            <a:rect r="r" b="b" t="t" l="l"/>
            <a:pathLst>
              <a:path h="3038732" w="5763112">
                <a:moveTo>
                  <a:pt x="0" y="3038731"/>
                </a:moveTo>
                <a:lnTo>
                  <a:pt x="5763112" y="3038731"/>
                </a:lnTo>
                <a:lnTo>
                  <a:pt x="5763112" y="0"/>
                </a:lnTo>
                <a:lnTo>
                  <a:pt x="0" y="0"/>
                </a:lnTo>
                <a:lnTo>
                  <a:pt x="0" y="3038731"/>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7005589" y="2451542"/>
            <a:ext cx="5869810" cy="1011426"/>
          </a:xfrm>
          <a:prstGeom prst="rect">
            <a:avLst/>
          </a:prstGeom>
        </p:spPr>
        <p:txBody>
          <a:bodyPr anchor="t" rtlCol="false" tIns="0" lIns="0" bIns="0" rIns="0">
            <a:spAutoFit/>
          </a:bodyPr>
          <a:lstStyle/>
          <a:p>
            <a:pPr algn="just" marL="0" indent="0" lvl="0">
              <a:lnSpc>
                <a:spcPts val="7194"/>
              </a:lnSpc>
            </a:pPr>
            <a:r>
              <a:rPr lang="en-US" b="true" sz="7194">
                <a:solidFill>
                  <a:srgbClr val="000000"/>
                </a:solidFill>
                <a:latin typeface="Poppins Bold"/>
                <a:ea typeface="Poppins Bold"/>
                <a:cs typeface="Poppins Bold"/>
                <a:sym typeface="Poppins Bold"/>
              </a:rPr>
              <a:t>Record</a:t>
            </a:r>
          </a:p>
        </p:txBody>
      </p:sp>
      <p:sp>
        <p:nvSpPr>
          <p:cNvPr name="TextBox 8" id="8"/>
          <p:cNvSpPr txBox="true"/>
          <p:nvPr/>
        </p:nvSpPr>
        <p:spPr>
          <a:xfrm rot="0">
            <a:off x="9489686" y="2451542"/>
            <a:ext cx="7652201" cy="1011426"/>
          </a:xfrm>
          <a:prstGeom prst="rect">
            <a:avLst/>
          </a:prstGeom>
        </p:spPr>
        <p:txBody>
          <a:bodyPr anchor="t" rtlCol="false" tIns="0" lIns="0" bIns="0" rIns="0">
            <a:spAutoFit/>
          </a:bodyPr>
          <a:lstStyle/>
          <a:p>
            <a:pPr algn="r" marL="0" indent="0" lvl="0">
              <a:lnSpc>
                <a:spcPts val="7194"/>
              </a:lnSpc>
            </a:pPr>
            <a:r>
              <a:rPr lang="en-US" b="true" sz="7194">
                <a:solidFill>
                  <a:srgbClr val="D67938"/>
                </a:solidFill>
                <a:latin typeface="Poppins Bold"/>
                <a:ea typeface="Poppins Bold"/>
                <a:cs typeface="Poppins Bold"/>
                <a:sym typeface="Poppins Bold"/>
              </a:rPr>
              <a:t>Classification</a:t>
            </a:r>
          </a:p>
        </p:txBody>
      </p:sp>
      <p:sp>
        <p:nvSpPr>
          <p:cNvPr name="Freeform 9" id="9"/>
          <p:cNvSpPr/>
          <p:nvPr/>
        </p:nvSpPr>
        <p:spPr>
          <a:xfrm flipH="false" flipV="false" rot="0">
            <a:off x="12575977" y="928985"/>
            <a:ext cx="1479619" cy="180244"/>
          </a:xfrm>
          <a:custGeom>
            <a:avLst/>
            <a:gdLst/>
            <a:ahLst/>
            <a:cxnLst/>
            <a:rect r="r" b="b" t="t" l="l"/>
            <a:pathLst>
              <a:path h="180244" w="1479619">
                <a:moveTo>
                  <a:pt x="0" y="0"/>
                </a:moveTo>
                <a:lnTo>
                  <a:pt x="1479619" y="0"/>
                </a:lnTo>
                <a:lnTo>
                  <a:pt x="1479619" y="180244"/>
                </a:lnTo>
                <a:lnTo>
                  <a:pt x="0" y="18024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6020922" y="9883595"/>
            <a:ext cx="1479619" cy="180244"/>
          </a:xfrm>
          <a:custGeom>
            <a:avLst/>
            <a:gdLst/>
            <a:ahLst/>
            <a:cxnLst/>
            <a:rect r="r" b="b" t="t" l="l"/>
            <a:pathLst>
              <a:path h="180244" w="1479619">
                <a:moveTo>
                  <a:pt x="0" y="0"/>
                </a:moveTo>
                <a:lnTo>
                  <a:pt x="1479619" y="0"/>
                </a:lnTo>
                <a:lnTo>
                  <a:pt x="1479619" y="180245"/>
                </a:lnTo>
                <a:lnTo>
                  <a:pt x="0" y="18024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pic>
        <p:nvPicPr>
          <p:cNvPr name="Picture 11" id="11"/>
          <p:cNvPicPr>
            <a:picLocks noChangeAspect="true"/>
          </p:cNvPicPr>
          <p:nvPr/>
        </p:nvPicPr>
        <p:blipFill>
          <a:blip r:embed="rId11"/>
          <a:stretch>
            <a:fillRect/>
          </a:stretch>
        </p:blipFill>
        <p:spPr>
          <a:xfrm rot="0">
            <a:off x="364809" y="2197011"/>
            <a:ext cx="8666051" cy="7540035"/>
          </a:xfrm>
          <a:prstGeom prst="rect">
            <a:avLst/>
          </a:prstGeom>
        </p:spPr>
      </p:pic>
      <p:sp>
        <p:nvSpPr>
          <p:cNvPr name="Freeform 12" id="12"/>
          <p:cNvSpPr/>
          <p:nvPr/>
        </p:nvSpPr>
        <p:spPr>
          <a:xfrm flipH="false" flipV="false" rot="5400000">
            <a:off x="-444328" y="411865"/>
            <a:ext cx="888656" cy="1034825"/>
          </a:xfrm>
          <a:custGeom>
            <a:avLst/>
            <a:gdLst/>
            <a:ahLst/>
            <a:cxnLst/>
            <a:rect r="r" b="b" t="t" l="l"/>
            <a:pathLst>
              <a:path h="1034825" w="888656">
                <a:moveTo>
                  <a:pt x="0" y="0"/>
                </a:moveTo>
                <a:lnTo>
                  <a:pt x="888656" y="0"/>
                </a:lnTo>
                <a:lnTo>
                  <a:pt x="888656" y="1034825"/>
                </a:lnTo>
                <a:lnTo>
                  <a:pt x="0" y="103482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5400000">
            <a:off x="16814972" y="9767454"/>
            <a:ext cx="888656" cy="1034825"/>
          </a:xfrm>
          <a:custGeom>
            <a:avLst/>
            <a:gdLst/>
            <a:ahLst/>
            <a:cxnLst/>
            <a:rect r="r" b="b" t="t" l="l"/>
            <a:pathLst>
              <a:path h="1034825" w="888656">
                <a:moveTo>
                  <a:pt x="0" y="0"/>
                </a:moveTo>
                <a:lnTo>
                  <a:pt x="888656" y="0"/>
                </a:lnTo>
                <a:lnTo>
                  <a:pt x="888656" y="1034825"/>
                </a:lnTo>
                <a:lnTo>
                  <a:pt x="0" y="103482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4" id="14"/>
          <p:cNvSpPr txBox="true"/>
          <p:nvPr/>
        </p:nvSpPr>
        <p:spPr>
          <a:xfrm rot="0">
            <a:off x="8640637" y="4063573"/>
            <a:ext cx="8133575" cy="1786122"/>
          </a:xfrm>
          <a:prstGeom prst="rect">
            <a:avLst/>
          </a:prstGeom>
        </p:spPr>
        <p:txBody>
          <a:bodyPr anchor="t" rtlCol="false" tIns="0" lIns="0" bIns="0" rIns="0">
            <a:spAutoFit/>
          </a:bodyPr>
          <a:lstStyle/>
          <a:p>
            <a:pPr algn="r" marL="0" indent="0" lvl="0">
              <a:lnSpc>
                <a:spcPts val="2352"/>
              </a:lnSpc>
            </a:pPr>
            <a:r>
              <a:rPr lang="en-US" sz="1680" spc="33">
                <a:solidFill>
                  <a:srgbClr val="000000"/>
                </a:solidFill>
                <a:latin typeface="Poppins"/>
                <a:ea typeface="Poppins"/>
                <a:cs typeface="Poppins"/>
                <a:sym typeface="Poppins"/>
              </a:rPr>
              <a:t>Document categories established during the internship included: Beneficiary Records (32.5%), Programme &amp; Project Files (25%), Financial &amp; Administrative Documents (20%), Correspondence &amp; Reports (12.5%), and Digital Assets &amp; Media (10%). Each category was assigned a standardized naming convention and folder hierarchy to ensure consistent retrieval and minimal duplication across the organization's digital repository.</a:t>
            </a:r>
          </a:p>
        </p:txBody>
      </p:sp>
      <p:sp>
        <p:nvSpPr>
          <p:cNvPr name="TextBox 15" id="15"/>
          <p:cNvSpPr txBox="true"/>
          <p:nvPr/>
        </p:nvSpPr>
        <p:spPr>
          <a:xfrm rot="0">
            <a:off x="8640637" y="6391591"/>
            <a:ext cx="8133575" cy="1490847"/>
          </a:xfrm>
          <a:prstGeom prst="rect">
            <a:avLst/>
          </a:prstGeom>
        </p:spPr>
        <p:txBody>
          <a:bodyPr anchor="t" rtlCol="false" tIns="0" lIns="0" bIns="0" rIns="0">
            <a:spAutoFit/>
          </a:bodyPr>
          <a:lstStyle/>
          <a:p>
            <a:pPr algn="r" marL="0" indent="0" lvl="0">
              <a:lnSpc>
                <a:spcPts val="2352"/>
              </a:lnSpc>
            </a:pPr>
            <a:r>
              <a:rPr lang="en-US" sz="1680" spc="33">
                <a:solidFill>
                  <a:srgbClr val="000000"/>
                </a:solidFill>
                <a:latin typeface="Poppins"/>
                <a:ea typeface="Poppins"/>
                <a:cs typeface="Poppins"/>
                <a:sym typeface="Poppins"/>
              </a:rPr>
              <a:t>Structured categorization directly supports H4ZP's operational efficiency by enabling staff to locate records within seconds rather than minutes. The classification framework aligns with best practices in digital record management, ensuring version control, access permissions, and audit trail integrity are maintained throughout the document lifecycle at H4ZP.</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16666" r="0" b="-16666"/>
            </a:stretch>
          </a:blipFill>
        </p:spPr>
      </p:sp>
      <p:sp>
        <p:nvSpPr>
          <p:cNvPr name="Freeform 3" id="3"/>
          <p:cNvSpPr/>
          <p:nvPr/>
        </p:nvSpPr>
        <p:spPr>
          <a:xfrm flipH="true" flipV="false" rot="0">
            <a:off x="-477585" y="-280829"/>
            <a:ext cx="1818974" cy="2899813"/>
          </a:xfrm>
          <a:custGeom>
            <a:avLst/>
            <a:gdLst/>
            <a:ahLst/>
            <a:cxnLst/>
            <a:rect r="r" b="b" t="t" l="l"/>
            <a:pathLst>
              <a:path h="2899813" w="1818974">
                <a:moveTo>
                  <a:pt x="1818974" y="0"/>
                </a:moveTo>
                <a:lnTo>
                  <a:pt x="0" y="0"/>
                </a:lnTo>
                <a:lnTo>
                  <a:pt x="0" y="2899813"/>
                </a:lnTo>
                <a:lnTo>
                  <a:pt x="1818974" y="2899813"/>
                </a:lnTo>
                <a:lnTo>
                  <a:pt x="1818974"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84642" y="1109229"/>
            <a:ext cx="810828" cy="552837"/>
          </a:xfrm>
          <a:custGeom>
            <a:avLst/>
            <a:gdLst/>
            <a:ahLst/>
            <a:cxnLst/>
            <a:rect r="r" b="b" t="t" l="l"/>
            <a:pathLst>
              <a:path h="552837" w="810828">
                <a:moveTo>
                  <a:pt x="0" y="0"/>
                </a:moveTo>
                <a:lnTo>
                  <a:pt x="810828" y="0"/>
                </a:lnTo>
                <a:lnTo>
                  <a:pt x="810828" y="552837"/>
                </a:lnTo>
                <a:lnTo>
                  <a:pt x="0" y="5528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2465179" y="1113851"/>
            <a:ext cx="4876703" cy="442980"/>
          </a:xfrm>
          <a:prstGeom prst="rect">
            <a:avLst/>
          </a:prstGeom>
        </p:spPr>
        <p:txBody>
          <a:bodyPr anchor="t" rtlCol="false" tIns="0" lIns="0" bIns="0" rIns="0">
            <a:spAutoFit/>
          </a:bodyPr>
          <a:lstStyle/>
          <a:p>
            <a:pPr algn="just" marL="0" indent="0" lvl="0">
              <a:lnSpc>
                <a:spcPts val="3408"/>
              </a:lnSpc>
            </a:pPr>
            <a:r>
              <a:rPr lang="en-US" sz="2434" spc="48">
                <a:solidFill>
                  <a:srgbClr val="000000"/>
                </a:solidFill>
                <a:latin typeface="Poppins"/>
                <a:ea typeface="Poppins"/>
                <a:cs typeface="Poppins"/>
                <a:sym typeface="Poppins"/>
              </a:rPr>
              <a:t>Trijal Singh | 25SCS1003002647</a:t>
            </a:r>
          </a:p>
        </p:txBody>
      </p:sp>
      <p:sp>
        <p:nvSpPr>
          <p:cNvPr name="TextBox 6" id="6"/>
          <p:cNvSpPr txBox="true"/>
          <p:nvPr/>
        </p:nvSpPr>
        <p:spPr>
          <a:xfrm rot="0">
            <a:off x="1484642" y="2151344"/>
            <a:ext cx="5869810" cy="1011426"/>
          </a:xfrm>
          <a:prstGeom prst="rect">
            <a:avLst/>
          </a:prstGeom>
        </p:spPr>
        <p:txBody>
          <a:bodyPr anchor="t" rtlCol="false" tIns="0" lIns="0" bIns="0" rIns="0">
            <a:spAutoFit/>
          </a:bodyPr>
          <a:lstStyle/>
          <a:p>
            <a:pPr algn="l" marL="0" indent="0" lvl="0">
              <a:lnSpc>
                <a:spcPts val="7194"/>
              </a:lnSpc>
            </a:pPr>
            <a:r>
              <a:rPr lang="en-US" b="true" sz="7194">
                <a:solidFill>
                  <a:srgbClr val="000000"/>
                </a:solidFill>
                <a:latin typeface="Poppins Bold"/>
                <a:ea typeface="Poppins Bold"/>
                <a:cs typeface="Poppins Bold"/>
                <a:sym typeface="Poppins Bold"/>
              </a:rPr>
              <a:t>Proposed</a:t>
            </a:r>
          </a:p>
        </p:txBody>
      </p:sp>
      <p:sp>
        <p:nvSpPr>
          <p:cNvPr name="TextBox 7" id="7"/>
          <p:cNvSpPr txBox="true"/>
          <p:nvPr/>
        </p:nvSpPr>
        <p:spPr>
          <a:xfrm rot="0">
            <a:off x="5621976" y="2151344"/>
            <a:ext cx="4883023" cy="1011426"/>
          </a:xfrm>
          <a:prstGeom prst="rect">
            <a:avLst/>
          </a:prstGeom>
        </p:spPr>
        <p:txBody>
          <a:bodyPr anchor="t" rtlCol="false" tIns="0" lIns="0" bIns="0" rIns="0">
            <a:spAutoFit/>
          </a:bodyPr>
          <a:lstStyle/>
          <a:p>
            <a:pPr algn="r" marL="0" indent="0" lvl="0">
              <a:lnSpc>
                <a:spcPts val="7194"/>
              </a:lnSpc>
            </a:pPr>
            <a:r>
              <a:rPr lang="en-US" b="true" sz="7194">
                <a:solidFill>
                  <a:srgbClr val="D67938"/>
                </a:solidFill>
                <a:latin typeface="Poppins Bold"/>
                <a:ea typeface="Poppins Bold"/>
                <a:cs typeface="Poppins Bold"/>
                <a:sym typeface="Poppins Bold"/>
              </a:rPr>
              <a:t>Workflow</a:t>
            </a:r>
          </a:p>
        </p:txBody>
      </p:sp>
      <p:sp>
        <p:nvSpPr>
          <p:cNvPr name="Freeform 8" id="8"/>
          <p:cNvSpPr/>
          <p:nvPr/>
        </p:nvSpPr>
        <p:spPr>
          <a:xfrm flipH="false" flipV="false" rot="0">
            <a:off x="12474736" y="8153781"/>
            <a:ext cx="5763112" cy="3038732"/>
          </a:xfrm>
          <a:custGeom>
            <a:avLst/>
            <a:gdLst/>
            <a:ahLst/>
            <a:cxnLst/>
            <a:rect r="r" b="b" t="t" l="l"/>
            <a:pathLst>
              <a:path h="3038732" w="5763112">
                <a:moveTo>
                  <a:pt x="0" y="0"/>
                </a:moveTo>
                <a:lnTo>
                  <a:pt x="5763112" y="0"/>
                </a:lnTo>
                <a:lnTo>
                  <a:pt x="5763112" y="3038732"/>
                </a:lnTo>
                <a:lnTo>
                  <a:pt x="0" y="303873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true" flipV="true" rot="0">
            <a:off x="12129722" y="-540769"/>
            <a:ext cx="6453139" cy="4405671"/>
          </a:xfrm>
          <a:custGeom>
            <a:avLst/>
            <a:gdLst/>
            <a:ahLst/>
            <a:cxnLst/>
            <a:rect r="r" b="b" t="t" l="l"/>
            <a:pathLst>
              <a:path h="4405671" w="6453139">
                <a:moveTo>
                  <a:pt x="6453140" y="4405671"/>
                </a:moveTo>
                <a:lnTo>
                  <a:pt x="0" y="4405671"/>
                </a:lnTo>
                <a:lnTo>
                  <a:pt x="0" y="0"/>
                </a:lnTo>
                <a:lnTo>
                  <a:pt x="6453140" y="0"/>
                </a:lnTo>
                <a:lnTo>
                  <a:pt x="6453140" y="4405671"/>
                </a:lnTo>
                <a:close/>
              </a:path>
            </a:pathLst>
          </a:custGeom>
          <a:blipFill>
            <a:blip r:embed="rId9">
              <a:extLst>
                <a:ext uri="{96DAC541-7B7A-43D3-8B79-37D633B846F1}">
                  <asvg:svgBlip xmlns:asvg="http://schemas.microsoft.com/office/drawing/2016/SVG/main" r:embed="rId10"/>
                </a:ext>
              </a:extLst>
            </a:blip>
            <a:stretch>
              <a:fillRect l="0" t="-35288" r="0" b="0"/>
            </a:stretch>
          </a:blipFill>
        </p:spPr>
      </p:sp>
      <p:pic>
        <p:nvPicPr>
          <p:cNvPr name="Picture 10" id="10"/>
          <p:cNvPicPr>
            <a:picLocks noChangeAspect="true"/>
          </p:cNvPicPr>
          <p:nvPr/>
        </p:nvPicPr>
        <p:blipFill>
          <a:blip r:embed="rId11"/>
          <a:stretch>
            <a:fillRect/>
          </a:stretch>
        </p:blipFill>
        <p:spPr>
          <a:xfrm rot="0">
            <a:off x="886530" y="2951921"/>
            <a:ext cx="7177342" cy="6612627"/>
          </a:xfrm>
          <a:prstGeom prst="rect">
            <a:avLst/>
          </a:prstGeom>
        </p:spPr>
      </p:pic>
      <p:sp>
        <p:nvSpPr>
          <p:cNvPr name="Freeform 11" id="11"/>
          <p:cNvSpPr/>
          <p:nvPr/>
        </p:nvSpPr>
        <p:spPr>
          <a:xfrm flipH="false" flipV="false" rot="5400000">
            <a:off x="379648" y="9678525"/>
            <a:ext cx="888656" cy="1034825"/>
          </a:xfrm>
          <a:custGeom>
            <a:avLst/>
            <a:gdLst/>
            <a:ahLst/>
            <a:cxnLst/>
            <a:rect r="r" b="b" t="t" l="l"/>
            <a:pathLst>
              <a:path h="1034825" w="888656">
                <a:moveTo>
                  <a:pt x="0" y="0"/>
                </a:moveTo>
                <a:lnTo>
                  <a:pt x="888656" y="0"/>
                </a:lnTo>
                <a:lnTo>
                  <a:pt x="888656" y="1034825"/>
                </a:lnTo>
                <a:lnTo>
                  <a:pt x="0" y="103482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5400000">
            <a:off x="17843672" y="4133361"/>
            <a:ext cx="888656" cy="1034825"/>
          </a:xfrm>
          <a:custGeom>
            <a:avLst/>
            <a:gdLst/>
            <a:ahLst/>
            <a:cxnLst/>
            <a:rect r="r" b="b" t="t" l="l"/>
            <a:pathLst>
              <a:path h="1034825" w="888656">
                <a:moveTo>
                  <a:pt x="0" y="0"/>
                </a:moveTo>
                <a:lnTo>
                  <a:pt x="888656" y="0"/>
                </a:lnTo>
                <a:lnTo>
                  <a:pt x="888656" y="1034826"/>
                </a:lnTo>
                <a:lnTo>
                  <a:pt x="0" y="103482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0650103" y="1205403"/>
            <a:ext cx="1479619" cy="180244"/>
          </a:xfrm>
          <a:custGeom>
            <a:avLst/>
            <a:gdLst/>
            <a:ahLst/>
            <a:cxnLst/>
            <a:rect r="r" b="b" t="t" l="l"/>
            <a:pathLst>
              <a:path h="180244" w="1479619">
                <a:moveTo>
                  <a:pt x="0" y="0"/>
                </a:moveTo>
                <a:lnTo>
                  <a:pt x="1479619" y="0"/>
                </a:lnTo>
                <a:lnTo>
                  <a:pt x="1479619" y="180245"/>
                </a:lnTo>
                <a:lnTo>
                  <a:pt x="0" y="18024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4" id="14"/>
          <p:cNvGrpSpPr/>
          <p:nvPr/>
        </p:nvGrpSpPr>
        <p:grpSpPr>
          <a:xfrm rot="0">
            <a:off x="8344992" y="3978528"/>
            <a:ext cx="5493923" cy="744367"/>
            <a:chOff x="0" y="0"/>
            <a:chExt cx="1446959" cy="196047"/>
          </a:xfrm>
        </p:grpSpPr>
        <p:sp>
          <p:nvSpPr>
            <p:cNvPr name="Freeform 15" id="15"/>
            <p:cNvSpPr/>
            <p:nvPr/>
          </p:nvSpPr>
          <p:spPr>
            <a:xfrm flipH="false" flipV="false" rot="0">
              <a:off x="0" y="0"/>
              <a:ext cx="1446959" cy="196047"/>
            </a:xfrm>
            <a:custGeom>
              <a:avLst/>
              <a:gdLst/>
              <a:ahLst/>
              <a:cxnLst/>
              <a:rect r="r" b="b" t="t" l="l"/>
              <a:pathLst>
                <a:path h="196047" w="1446959">
                  <a:moveTo>
                    <a:pt x="18319" y="0"/>
                  </a:moveTo>
                  <a:lnTo>
                    <a:pt x="1428640" y="0"/>
                  </a:lnTo>
                  <a:cubicBezTo>
                    <a:pt x="1438757" y="0"/>
                    <a:pt x="1446959" y="8202"/>
                    <a:pt x="1446959" y="18319"/>
                  </a:cubicBezTo>
                  <a:lnTo>
                    <a:pt x="1446959" y="177728"/>
                  </a:lnTo>
                  <a:cubicBezTo>
                    <a:pt x="1446959" y="187846"/>
                    <a:pt x="1438757" y="196047"/>
                    <a:pt x="1428640" y="196047"/>
                  </a:cubicBezTo>
                  <a:lnTo>
                    <a:pt x="18319" y="196047"/>
                  </a:lnTo>
                  <a:cubicBezTo>
                    <a:pt x="8202" y="196047"/>
                    <a:pt x="0" y="187846"/>
                    <a:pt x="0" y="177728"/>
                  </a:cubicBezTo>
                  <a:lnTo>
                    <a:pt x="0" y="18319"/>
                  </a:lnTo>
                  <a:cubicBezTo>
                    <a:pt x="0" y="8202"/>
                    <a:pt x="8202" y="0"/>
                    <a:pt x="18319" y="0"/>
                  </a:cubicBezTo>
                  <a:close/>
                </a:path>
              </a:pathLst>
            </a:custGeom>
            <a:gradFill rotWithShape="true">
              <a:gsLst>
                <a:gs pos="0">
                  <a:srgbClr val="F89D5B">
                    <a:alpha val="100000"/>
                  </a:srgbClr>
                </a:gs>
                <a:gs pos="100000">
                  <a:srgbClr val="D67938">
                    <a:alpha val="100000"/>
                  </a:srgbClr>
                </a:gs>
              </a:gsLst>
              <a:lin ang="0"/>
            </a:gradFill>
          </p:spPr>
        </p:sp>
        <p:sp>
          <p:nvSpPr>
            <p:cNvPr name="TextBox 16" id="16"/>
            <p:cNvSpPr txBox="true"/>
            <p:nvPr/>
          </p:nvSpPr>
          <p:spPr>
            <a:xfrm>
              <a:off x="0" y="-38100"/>
              <a:ext cx="1446959" cy="234147"/>
            </a:xfrm>
            <a:prstGeom prst="rect">
              <a:avLst/>
            </a:prstGeom>
          </p:spPr>
          <p:txBody>
            <a:bodyPr anchor="ctr" rtlCol="false" tIns="50800" lIns="50800" bIns="50800" rIns="50800"/>
            <a:lstStyle/>
            <a:p>
              <a:pPr algn="ctr" marL="0" indent="0" lvl="0">
                <a:lnSpc>
                  <a:spcPts val="2659"/>
                </a:lnSpc>
              </a:pPr>
            </a:p>
          </p:txBody>
        </p:sp>
      </p:grpSp>
      <p:grpSp>
        <p:nvGrpSpPr>
          <p:cNvPr name="Group 17" id="17"/>
          <p:cNvGrpSpPr/>
          <p:nvPr/>
        </p:nvGrpSpPr>
        <p:grpSpPr>
          <a:xfrm rot="0">
            <a:off x="8344992" y="5737029"/>
            <a:ext cx="5493923" cy="744367"/>
            <a:chOff x="0" y="0"/>
            <a:chExt cx="1446959" cy="196047"/>
          </a:xfrm>
        </p:grpSpPr>
        <p:sp>
          <p:nvSpPr>
            <p:cNvPr name="Freeform 18" id="18"/>
            <p:cNvSpPr/>
            <p:nvPr/>
          </p:nvSpPr>
          <p:spPr>
            <a:xfrm flipH="false" flipV="false" rot="0">
              <a:off x="0" y="0"/>
              <a:ext cx="1446959" cy="196047"/>
            </a:xfrm>
            <a:custGeom>
              <a:avLst/>
              <a:gdLst/>
              <a:ahLst/>
              <a:cxnLst/>
              <a:rect r="r" b="b" t="t" l="l"/>
              <a:pathLst>
                <a:path h="196047" w="1446959">
                  <a:moveTo>
                    <a:pt x="18319" y="0"/>
                  </a:moveTo>
                  <a:lnTo>
                    <a:pt x="1428640" y="0"/>
                  </a:lnTo>
                  <a:cubicBezTo>
                    <a:pt x="1438757" y="0"/>
                    <a:pt x="1446959" y="8202"/>
                    <a:pt x="1446959" y="18319"/>
                  </a:cubicBezTo>
                  <a:lnTo>
                    <a:pt x="1446959" y="177728"/>
                  </a:lnTo>
                  <a:cubicBezTo>
                    <a:pt x="1446959" y="187846"/>
                    <a:pt x="1438757" y="196047"/>
                    <a:pt x="1428640" y="196047"/>
                  </a:cubicBezTo>
                  <a:lnTo>
                    <a:pt x="18319" y="196047"/>
                  </a:lnTo>
                  <a:cubicBezTo>
                    <a:pt x="8202" y="196047"/>
                    <a:pt x="0" y="187846"/>
                    <a:pt x="0" y="177728"/>
                  </a:cubicBezTo>
                  <a:lnTo>
                    <a:pt x="0" y="18319"/>
                  </a:lnTo>
                  <a:cubicBezTo>
                    <a:pt x="0" y="8202"/>
                    <a:pt x="8202" y="0"/>
                    <a:pt x="18319" y="0"/>
                  </a:cubicBezTo>
                  <a:close/>
                </a:path>
              </a:pathLst>
            </a:custGeom>
            <a:gradFill rotWithShape="true">
              <a:gsLst>
                <a:gs pos="0">
                  <a:srgbClr val="F89D5B">
                    <a:alpha val="100000"/>
                  </a:srgbClr>
                </a:gs>
                <a:gs pos="100000">
                  <a:srgbClr val="D67938">
                    <a:alpha val="100000"/>
                  </a:srgbClr>
                </a:gs>
              </a:gsLst>
              <a:lin ang="0"/>
            </a:gradFill>
          </p:spPr>
        </p:sp>
        <p:sp>
          <p:nvSpPr>
            <p:cNvPr name="TextBox 19" id="19"/>
            <p:cNvSpPr txBox="true"/>
            <p:nvPr/>
          </p:nvSpPr>
          <p:spPr>
            <a:xfrm>
              <a:off x="0" y="-38100"/>
              <a:ext cx="1446959" cy="234147"/>
            </a:xfrm>
            <a:prstGeom prst="rect">
              <a:avLst/>
            </a:prstGeom>
          </p:spPr>
          <p:txBody>
            <a:bodyPr anchor="ctr" rtlCol="false" tIns="50800" lIns="50800" bIns="50800" rIns="50800"/>
            <a:lstStyle/>
            <a:p>
              <a:pPr algn="ctr" marL="0" indent="0" lvl="0">
                <a:lnSpc>
                  <a:spcPts val="2659"/>
                </a:lnSpc>
              </a:pPr>
            </a:p>
          </p:txBody>
        </p:sp>
      </p:grpSp>
      <p:sp>
        <p:nvSpPr>
          <p:cNvPr name="TextBox 20" id="20"/>
          <p:cNvSpPr txBox="true"/>
          <p:nvPr/>
        </p:nvSpPr>
        <p:spPr>
          <a:xfrm rot="0">
            <a:off x="8540440" y="4169419"/>
            <a:ext cx="5103028" cy="217551"/>
          </a:xfrm>
          <a:prstGeom prst="rect">
            <a:avLst/>
          </a:prstGeom>
        </p:spPr>
        <p:txBody>
          <a:bodyPr anchor="t" rtlCol="false" tIns="0" lIns="0" bIns="0" rIns="0">
            <a:spAutoFit/>
          </a:bodyPr>
          <a:lstStyle/>
          <a:p>
            <a:pPr algn="ctr" marL="0" indent="0" lvl="0">
              <a:lnSpc>
                <a:spcPts val="1517"/>
              </a:lnSpc>
            </a:pPr>
            <a:r>
              <a:rPr lang="en-US" b="true" sz="1379" spc="27">
                <a:solidFill>
                  <a:srgbClr val="FFFFFF"/>
                </a:solidFill>
                <a:latin typeface="Poppins Medium"/>
                <a:ea typeface="Poppins Medium"/>
                <a:cs typeface="Poppins Medium"/>
                <a:sym typeface="Poppins Medium"/>
              </a:rPr>
              <a:t>Step 1: Document Collection &amp; Input</a:t>
            </a:r>
          </a:p>
        </p:txBody>
      </p:sp>
      <p:sp>
        <p:nvSpPr>
          <p:cNvPr name="TextBox 21" id="21"/>
          <p:cNvSpPr txBox="true"/>
          <p:nvPr/>
        </p:nvSpPr>
        <p:spPr>
          <a:xfrm rot="0">
            <a:off x="8540440" y="5927920"/>
            <a:ext cx="5103028" cy="217551"/>
          </a:xfrm>
          <a:prstGeom prst="rect">
            <a:avLst/>
          </a:prstGeom>
        </p:spPr>
        <p:txBody>
          <a:bodyPr anchor="t" rtlCol="false" tIns="0" lIns="0" bIns="0" rIns="0">
            <a:spAutoFit/>
          </a:bodyPr>
          <a:lstStyle/>
          <a:p>
            <a:pPr algn="ctr" marL="0" indent="0" lvl="0">
              <a:lnSpc>
                <a:spcPts val="1517"/>
              </a:lnSpc>
            </a:pPr>
            <a:r>
              <a:rPr lang="en-US" b="true" sz="1379" spc="27">
                <a:solidFill>
                  <a:srgbClr val="FFFFFF"/>
                </a:solidFill>
                <a:latin typeface="Poppins Medium"/>
                <a:ea typeface="Poppins Medium"/>
                <a:cs typeface="Poppins Medium"/>
                <a:sym typeface="Poppins Medium"/>
              </a:rPr>
              <a:t>Step 2: Organization &amp; Digitization</a:t>
            </a:r>
          </a:p>
        </p:txBody>
      </p:sp>
      <p:sp>
        <p:nvSpPr>
          <p:cNvPr name="TextBox 22" id="22"/>
          <p:cNvSpPr txBox="true"/>
          <p:nvPr/>
        </p:nvSpPr>
        <p:spPr>
          <a:xfrm rot="0">
            <a:off x="8344992" y="4915677"/>
            <a:ext cx="8085441" cy="417195"/>
          </a:xfrm>
          <a:prstGeom prst="rect">
            <a:avLst/>
          </a:prstGeom>
        </p:spPr>
        <p:txBody>
          <a:bodyPr anchor="t" rtlCol="false" tIns="0" lIns="0" bIns="0" rIns="0">
            <a:spAutoFit/>
          </a:bodyPr>
          <a:lstStyle/>
          <a:p>
            <a:pPr algn="l" marL="0" indent="0" lvl="0">
              <a:lnSpc>
                <a:spcPts val="1679"/>
              </a:lnSpc>
            </a:pPr>
            <a:r>
              <a:rPr lang="en-US" sz="1200" spc="24">
                <a:solidFill>
                  <a:srgbClr val="020D20"/>
                </a:solidFill>
                <a:latin typeface="Poppins"/>
                <a:ea typeface="Poppins"/>
                <a:cs typeface="Poppins"/>
                <a:sym typeface="Poppins"/>
              </a:rPr>
              <a:t>Physical records, forms, and field reports are gathered from H4ZP departments and prepared for systematic digitization.</a:t>
            </a:r>
          </a:p>
        </p:txBody>
      </p:sp>
      <p:sp>
        <p:nvSpPr>
          <p:cNvPr name="TextBox 23" id="23"/>
          <p:cNvSpPr txBox="true"/>
          <p:nvPr/>
        </p:nvSpPr>
        <p:spPr>
          <a:xfrm rot="0">
            <a:off x="8344992" y="6674178"/>
            <a:ext cx="8085441" cy="417195"/>
          </a:xfrm>
          <a:prstGeom prst="rect">
            <a:avLst/>
          </a:prstGeom>
        </p:spPr>
        <p:txBody>
          <a:bodyPr anchor="t" rtlCol="false" tIns="0" lIns="0" bIns="0" rIns="0">
            <a:spAutoFit/>
          </a:bodyPr>
          <a:lstStyle/>
          <a:p>
            <a:pPr algn="l" marL="0" indent="0" lvl="0">
              <a:lnSpc>
                <a:spcPts val="1679"/>
              </a:lnSpc>
            </a:pPr>
            <a:r>
              <a:rPr lang="en-US" sz="1200" spc="24">
                <a:solidFill>
                  <a:srgbClr val="020D20"/>
                </a:solidFill>
                <a:latin typeface="Poppins"/>
                <a:ea typeface="Poppins"/>
                <a:cs typeface="Poppins"/>
                <a:sym typeface="Poppins"/>
              </a:rPr>
              <a:t>Documents are scanned, categorized by type and date, and converted into standardized digital formats using naming conventions.</a:t>
            </a:r>
          </a:p>
        </p:txBody>
      </p:sp>
      <p:grpSp>
        <p:nvGrpSpPr>
          <p:cNvPr name="Group 24" id="24"/>
          <p:cNvGrpSpPr/>
          <p:nvPr/>
        </p:nvGrpSpPr>
        <p:grpSpPr>
          <a:xfrm rot="0">
            <a:off x="8344992" y="7495530"/>
            <a:ext cx="5493923" cy="744367"/>
            <a:chOff x="0" y="0"/>
            <a:chExt cx="1446959" cy="196047"/>
          </a:xfrm>
        </p:grpSpPr>
        <p:sp>
          <p:nvSpPr>
            <p:cNvPr name="Freeform 25" id="25"/>
            <p:cNvSpPr/>
            <p:nvPr/>
          </p:nvSpPr>
          <p:spPr>
            <a:xfrm flipH="false" flipV="false" rot="0">
              <a:off x="0" y="0"/>
              <a:ext cx="1446959" cy="196047"/>
            </a:xfrm>
            <a:custGeom>
              <a:avLst/>
              <a:gdLst/>
              <a:ahLst/>
              <a:cxnLst/>
              <a:rect r="r" b="b" t="t" l="l"/>
              <a:pathLst>
                <a:path h="196047" w="1446959">
                  <a:moveTo>
                    <a:pt x="18319" y="0"/>
                  </a:moveTo>
                  <a:lnTo>
                    <a:pt x="1428640" y="0"/>
                  </a:lnTo>
                  <a:cubicBezTo>
                    <a:pt x="1438757" y="0"/>
                    <a:pt x="1446959" y="8202"/>
                    <a:pt x="1446959" y="18319"/>
                  </a:cubicBezTo>
                  <a:lnTo>
                    <a:pt x="1446959" y="177728"/>
                  </a:lnTo>
                  <a:cubicBezTo>
                    <a:pt x="1446959" y="187846"/>
                    <a:pt x="1438757" y="196047"/>
                    <a:pt x="1428640" y="196047"/>
                  </a:cubicBezTo>
                  <a:lnTo>
                    <a:pt x="18319" y="196047"/>
                  </a:lnTo>
                  <a:cubicBezTo>
                    <a:pt x="8202" y="196047"/>
                    <a:pt x="0" y="187846"/>
                    <a:pt x="0" y="177728"/>
                  </a:cubicBezTo>
                  <a:lnTo>
                    <a:pt x="0" y="18319"/>
                  </a:lnTo>
                  <a:cubicBezTo>
                    <a:pt x="0" y="8202"/>
                    <a:pt x="8202" y="0"/>
                    <a:pt x="18319" y="0"/>
                  </a:cubicBezTo>
                  <a:close/>
                </a:path>
              </a:pathLst>
            </a:custGeom>
            <a:gradFill rotWithShape="true">
              <a:gsLst>
                <a:gs pos="0">
                  <a:srgbClr val="F89D5B">
                    <a:alpha val="100000"/>
                  </a:srgbClr>
                </a:gs>
                <a:gs pos="100000">
                  <a:srgbClr val="D67938">
                    <a:alpha val="100000"/>
                  </a:srgbClr>
                </a:gs>
              </a:gsLst>
              <a:lin ang="0"/>
            </a:gradFill>
          </p:spPr>
        </p:sp>
        <p:sp>
          <p:nvSpPr>
            <p:cNvPr name="TextBox 26" id="26"/>
            <p:cNvSpPr txBox="true"/>
            <p:nvPr/>
          </p:nvSpPr>
          <p:spPr>
            <a:xfrm>
              <a:off x="0" y="-38100"/>
              <a:ext cx="1446959" cy="234147"/>
            </a:xfrm>
            <a:prstGeom prst="rect">
              <a:avLst/>
            </a:prstGeom>
          </p:spPr>
          <p:txBody>
            <a:bodyPr anchor="ctr" rtlCol="false" tIns="50800" lIns="50800" bIns="50800" rIns="50800"/>
            <a:lstStyle/>
            <a:p>
              <a:pPr algn="ctr" marL="0" indent="0" lvl="0">
                <a:lnSpc>
                  <a:spcPts val="2659"/>
                </a:lnSpc>
              </a:pPr>
            </a:p>
          </p:txBody>
        </p:sp>
      </p:grpSp>
      <p:sp>
        <p:nvSpPr>
          <p:cNvPr name="TextBox 27" id="27"/>
          <p:cNvSpPr txBox="true"/>
          <p:nvPr/>
        </p:nvSpPr>
        <p:spPr>
          <a:xfrm rot="0">
            <a:off x="8540440" y="7686421"/>
            <a:ext cx="5103028" cy="217551"/>
          </a:xfrm>
          <a:prstGeom prst="rect">
            <a:avLst/>
          </a:prstGeom>
        </p:spPr>
        <p:txBody>
          <a:bodyPr anchor="t" rtlCol="false" tIns="0" lIns="0" bIns="0" rIns="0">
            <a:spAutoFit/>
          </a:bodyPr>
          <a:lstStyle/>
          <a:p>
            <a:pPr algn="ctr" marL="0" indent="0" lvl="0">
              <a:lnSpc>
                <a:spcPts val="1517"/>
              </a:lnSpc>
            </a:pPr>
            <a:r>
              <a:rPr lang="en-US" b="true" sz="1379" spc="27">
                <a:solidFill>
                  <a:srgbClr val="FFFFFF"/>
                </a:solidFill>
                <a:latin typeface="Poppins Medium"/>
                <a:ea typeface="Poppins Medium"/>
                <a:cs typeface="Poppins Medium"/>
                <a:sym typeface="Poppins Medium"/>
              </a:rPr>
              <a:t>Step 3: Storage &amp; Retrieval</a:t>
            </a:r>
          </a:p>
        </p:txBody>
      </p:sp>
      <p:sp>
        <p:nvSpPr>
          <p:cNvPr name="TextBox 28" id="28"/>
          <p:cNvSpPr txBox="true"/>
          <p:nvPr/>
        </p:nvSpPr>
        <p:spPr>
          <a:xfrm rot="0">
            <a:off x="8344992" y="8430397"/>
            <a:ext cx="8085441" cy="417195"/>
          </a:xfrm>
          <a:prstGeom prst="rect">
            <a:avLst/>
          </a:prstGeom>
        </p:spPr>
        <p:txBody>
          <a:bodyPr anchor="t" rtlCol="false" tIns="0" lIns="0" bIns="0" rIns="0">
            <a:spAutoFit/>
          </a:bodyPr>
          <a:lstStyle/>
          <a:p>
            <a:pPr algn="l" marL="0" indent="0" lvl="0">
              <a:lnSpc>
                <a:spcPts val="1679"/>
              </a:lnSpc>
            </a:pPr>
            <a:r>
              <a:rPr lang="en-US" sz="1200" spc="24">
                <a:solidFill>
                  <a:srgbClr val="020D20"/>
                </a:solidFill>
                <a:latin typeface="Poppins"/>
                <a:ea typeface="Poppins"/>
                <a:cs typeface="Poppins"/>
                <a:sym typeface="Poppins"/>
              </a:rPr>
              <a:t>Digitized files are stored in a structured folder system and indexed for fast, secure retrieval by authorized H4ZP staff.</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16666" r="0" b="-16666"/>
            </a:stretch>
          </a:blipFill>
        </p:spPr>
      </p:sp>
      <p:sp>
        <p:nvSpPr>
          <p:cNvPr name="Freeform 3" id="3"/>
          <p:cNvSpPr/>
          <p:nvPr/>
        </p:nvSpPr>
        <p:spPr>
          <a:xfrm flipH="true" flipV="false" rot="0">
            <a:off x="-252072" y="8293505"/>
            <a:ext cx="5434501" cy="2865464"/>
          </a:xfrm>
          <a:custGeom>
            <a:avLst/>
            <a:gdLst/>
            <a:ahLst/>
            <a:cxnLst/>
            <a:rect r="r" b="b" t="t" l="l"/>
            <a:pathLst>
              <a:path h="2865464" w="5434501">
                <a:moveTo>
                  <a:pt x="5434502" y="0"/>
                </a:moveTo>
                <a:lnTo>
                  <a:pt x="0" y="0"/>
                </a:lnTo>
                <a:lnTo>
                  <a:pt x="0" y="2865464"/>
                </a:lnTo>
                <a:lnTo>
                  <a:pt x="5434502" y="2865464"/>
                </a:lnTo>
                <a:lnTo>
                  <a:pt x="5434502"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descr="Bold Colorful Memphis Horizontal Repeating Lined Cross"/>
          <p:cNvSpPr/>
          <p:nvPr/>
        </p:nvSpPr>
        <p:spPr>
          <a:xfrm flipH="false" flipV="false" rot="0">
            <a:off x="796255" y="9258300"/>
            <a:ext cx="1956533" cy="238341"/>
          </a:xfrm>
          <a:custGeom>
            <a:avLst/>
            <a:gdLst/>
            <a:ahLst/>
            <a:cxnLst/>
            <a:rect r="r" b="b" t="t" l="l"/>
            <a:pathLst>
              <a:path h="238341" w="1956533">
                <a:moveTo>
                  <a:pt x="0" y="0"/>
                </a:moveTo>
                <a:lnTo>
                  <a:pt x="1956533" y="0"/>
                </a:lnTo>
                <a:lnTo>
                  <a:pt x="1956533" y="238341"/>
                </a:lnTo>
                <a:lnTo>
                  <a:pt x="0" y="2383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descr="Black Dotted Circle Recolorable Outline"/>
          <p:cNvSpPr/>
          <p:nvPr/>
        </p:nvSpPr>
        <p:spPr>
          <a:xfrm flipH="false" flipV="false" rot="0">
            <a:off x="-427906" y="191898"/>
            <a:ext cx="1050318" cy="1223078"/>
          </a:xfrm>
          <a:custGeom>
            <a:avLst/>
            <a:gdLst/>
            <a:ahLst/>
            <a:cxnLst/>
            <a:rect r="r" b="b" t="t" l="l"/>
            <a:pathLst>
              <a:path h="1223078" w="1050318">
                <a:moveTo>
                  <a:pt x="0" y="0"/>
                </a:moveTo>
                <a:lnTo>
                  <a:pt x="1050319" y="0"/>
                </a:lnTo>
                <a:lnTo>
                  <a:pt x="1050319" y="1223078"/>
                </a:lnTo>
                <a:lnTo>
                  <a:pt x="0" y="12230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descr="Black Dotted Circle Recolorable Outline"/>
          <p:cNvSpPr/>
          <p:nvPr/>
        </p:nvSpPr>
        <p:spPr>
          <a:xfrm flipH="false" flipV="false" rot="0">
            <a:off x="16590680" y="9659634"/>
            <a:ext cx="965825" cy="1124687"/>
          </a:xfrm>
          <a:custGeom>
            <a:avLst/>
            <a:gdLst/>
            <a:ahLst/>
            <a:cxnLst/>
            <a:rect r="r" b="b" t="t" l="l"/>
            <a:pathLst>
              <a:path h="1124687" w="965825">
                <a:moveTo>
                  <a:pt x="0" y="0"/>
                </a:moveTo>
                <a:lnTo>
                  <a:pt x="965825" y="0"/>
                </a:lnTo>
                <a:lnTo>
                  <a:pt x="965825" y="1124688"/>
                </a:lnTo>
                <a:lnTo>
                  <a:pt x="0" y="112468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3451464" y="2122855"/>
            <a:ext cx="7115651" cy="556669"/>
          </a:xfrm>
          <a:prstGeom prst="rect">
            <a:avLst/>
          </a:prstGeom>
        </p:spPr>
        <p:txBody>
          <a:bodyPr anchor="t" rtlCol="false" tIns="0" lIns="0" bIns="0" rIns="0">
            <a:spAutoFit/>
          </a:bodyPr>
          <a:lstStyle/>
          <a:p>
            <a:pPr algn="l" marL="0" indent="0" lvl="0">
              <a:lnSpc>
                <a:spcPts val="3916"/>
              </a:lnSpc>
            </a:pPr>
            <a:r>
              <a:rPr lang="en-US" b="true" sz="3916">
                <a:solidFill>
                  <a:srgbClr val="000000"/>
                </a:solidFill>
                <a:latin typeface="Poppins Bold"/>
                <a:ea typeface="Poppins Bold"/>
                <a:cs typeface="Poppins Bold"/>
                <a:sym typeface="Poppins Bold"/>
              </a:rPr>
              <a:t>Key Findings &amp;</a:t>
            </a:r>
          </a:p>
        </p:txBody>
      </p:sp>
      <p:sp>
        <p:nvSpPr>
          <p:cNvPr name="TextBox 8" id="8"/>
          <p:cNvSpPr txBox="true"/>
          <p:nvPr/>
        </p:nvSpPr>
        <p:spPr>
          <a:xfrm rot="0">
            <a:off x="9953513" y="2122855"/>
            <a:ext cx="4883023" cy="1051969"/>
          </a:xfrm>
          <a:prstGeom prst="rect">
            <a:avLst/>
          </a:prstGeom>
        </p:spPr>
        <p:txBody>
          <a:bodyPr anchor="t" rtlCol="false" tIns="0" lIns="0" bIns="0" rIns="0">
            <a:spAutoFit/>
          </a:bodyPr>
          <a:lstStyle/>
          <a:p>
            <a:pPr algn="r" marL="0" indent="0" lvl="0">
              <a:lnSpc>
                <a:spcPts val="3916"/>
              </a:lnSpc>
            </a:pPr>
            <a:r>
              <a:rPr lang="en-US" b="true" sz="3916">
                <a:solidFill>
                  <a:srgbClr val="D67938"/>
                </a:solidFill>
                <a:latin typeface="Poppins Bold"/>
                <a:ea typeface="Poppins Bold"/>
                <a:cs typeface="Poppins Bold"/>
                <a:sym typeface="Poppins Bold"/>
              </a:rPr>
              <a:t>Recommendations</a:t>
            </a:r>
          </a:p>
        </p:txBody>
      </p:sp>
      <p:sp>
        <p:nvSpPr>
          <p:cNvPr name="Freeform 9" id="9"/>
          <p:cNvSpPr/>
          <p:nvPr/>
        </p:nvSpPr>
        <p:spPr>
          <a:xfrm flipH="false" flipV="false" rot="0">
            <a:off x="1484642" y="1109229"/>
            <a:ext cx="810828" cy="552837"/>
          </a:xfrm>
          <a:custGeom>
            <a:avLst/>
            <a:gdLst/>
            <a:ahLst/>
            <a:cxnLst/>
            <a:rect r="r" b="b" t="t" l="l"/>
            <a:pathLst>
              <a:path h="552837" w="810828">
                <a:moveTo>
                  <a:pt x="0" y="0"/>
                </a:moveTo>
                <a:lnTo>
                  <a:pt x="810828" y="0"/>
                </a:lnTo>
                <a:lnTo>
                  <a:pt x="810828" y="552837"/>
                </a:lnTo>
                <a:lnTo>
                  <a:pt x="0" y="55283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2465179" y="1123376"/>
            <a:ext cx="4876703" cy="457882"/>
          </a:xfrm>
          <a:prstGeom prst="rect">
            <a:avLst/>
          </a:prstGeom>
        </p:spPr>
        <p:txBody>
          <a:bodyPr anchor="t" rtlCol="false" tIns="0" lIns="0" bIns="0" rIns="0">
            <a:spAutoFit/>
          </a:bodyPr>
          <a:lstStyle/>
          <a:p>
            <a:pPr algn="just" marL="0" indent="0" lvl="0">
              <a:lnSpc>
                <a:spcPts val="3637"/>
              </a:lnSpc>
            </a:pPr>
            <a:r>
              <a:rPr lang="en-US" sz="2598" spc="51">
                <a:solidFill>
                  <a:srgbClr val="000000"/>
                </a:solidFill>
                <a:latin typeface="Poppins"/>
                <a:ea typeface="Poppins"/>
                <a:cs typeface="Poppins"/>
                <a:sym typeface="Poppins"/>
              </a:rPr>
              <a:t>Trijal Singh | H4ZP Internship</a:t>
            </a:r>
          </a:p>
        </p:txBody>
      </p:sp>
      <p:sp>
        <p:nvSpPr>
          <p:cNvPr name="Freeform 11" id="11"/>
          <p:cNvSpPr/>
          <p:nvPr/>
        </p:nvSpPr>
        <p:spPr>
          <a:xfrm flipH="true" flipV="true" rot="0">
            <a:off x="12406326" y="-579931"/>
            <a:ext cx="6828782" cy="2321786"/>
          </a:xfrm>
          <a:custGeom>
            <a:avLst/>
            <a:gdLst/>
            <a:ahLst/>
            <a:cxnLst/>
            <a:rect r="r" b="b" t="t" l="l"/>
            <a:pathLst>
              <a:path h="2321786" w="6828782">
                <a:moveTo>
                  <a:pt x="6828782" y="2321786"/>
                </a:moveTo>
                <a:lnTo>
                  <a:pt x="0" y="2321786"/>
                </a:lnTo>
                <a:lnTo>
                  <a:pt x="0" y="0"/>
                </a:lnTo>
                <a:lnTo>
                  <a:pt x="6828782" y="0"/>
                </a:lnTo>
                <a:lnTo>
                  <a:pt x="6828782" y="2321786"/>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descr="Bold Colorful Memphis Horizontal Repeating Lined Cross"/>
          <p:cNvSpPr/>
          <p:nvPr/>
        </p:nvSpPr>
        <p:spPr>
          <a:xfrm flipH="false" flipV="false" rot="0">
            <a:off x="11269667" y="684267"/>
            <a:ext cx="1422414" cy="173276"/>
          </a:xfrm>
          <a:custGeom>
            <a:avLst/>
            <a:gdLst/>
            <a:ahLst/>
            <a:cxnLst/>
            <a:rect r="r" b="b" t="t" l="l"/>
            <a:pathLst>
              <a:path h="173276" w="1422414">
                <a:moveTo>
                  <a:pt x="0" y="0"/>
                </a:moveTo>
                <a:lnTo>
                  <a:pt x="1422413" y="0"/>
                </a:lnTo>
                <a:lnTo>
                  <a:pt x="1422413" y="173276"/>
                </a:lnTo>
                <a:lnTo>
                  <a:pt x="0" y="1732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pic>
        <p:nvPicPr>
          <p:cNvPr name="Picture 13" id="13"/>
          <p:cNvPicPr>
            <a:picLocks noChangeAspect="true"/>
          </p:cNvPicPr>
          <p:nvPr/>
        </p:nvPicPr>
        <p:blipFill>
          <a:blip r:embed="rId13"/>
          <a:stretch>
            <a:fillRect/>
          </a:stretch>
        </p:blipFill>
        <p:spPr>
          <a:xfrm rot="0">
            <a:off x="9775125" y="2851839"/>
            <a:ext cx="7961965" cy="6927433"/>
          </a:xfrm>
          <a:prstGeom prst="rect">
            <a:avLst/>
          </a:prstGeom>
        </p:spPr>
      </p:pic>
      <p:grpSp>
        <p:nvGrpSpPr>
          <p:cNvPr name="Group 14" id="14"/>
          <p:cNvGrpSpPr/>
          <p:nvPr/>
        </p:nvGrpSpPr>
        <p:grpSpPr>
          <a:xfrm rot="0">
            <a:off x="4163112" y="4004846"/>
            <a:ext cx="5493923" cy="744367"/>
            <a:chOff x="0" y="0"/>
            <a:chExt cx="1446959" cy="196047"/>
          </a:xfrm>
        </p:grpSpPr>
        <p:sp>
          <p:nvSpPr>
            <p:cNvPr name="Freeform 15" id="15"/>
            <p:cNvSpPr/>
            <p:nvPr/>
          </p:nvSpPr>
          <p:spPr>
            <a:xfrm flipH="false" flipV="false" rot="0">
              <a:off x="0" y="0"/>
              <a:ext cx="1446959" cy="196047"/>
            </a:xfrm>
            <a:custGeom>
              <a:avLst/>
              <a:gdLst/>
              <a:ahLst/>
              <a:cxnLst/>
              <a:rect r="r" b="b" t="t" l="l"/>
              <a:pathLst>
                <a:path h="196047" w="1446959">
                  <a:moveTo>
                    <a:pt x="18319" y="0"/>
                  </a:moveTo>
                  <a:lnTo>
                    <a:pt x="1428640" y="0"/>
                  </a:lnTo>
                  <a:cubicBezTo>
                    <a:pt x="1438757" y="0"/>
                    <a:pt x="1446959" y="8202"/>
                    <a:pt x="1446959" y="18319"/>
                  </a:cubicBezTo>
                  <a:lnTo>
                    <a:pt x="1446959" y="177728"/>
                  </a:lnTo>
                  <a:cubicBezTo>
                    <a:pt x="1446959" y="187846"/>
                    <a:pt x="1438757" y="196047"/>
                    <a:pt x="1428640" y="196047"/>
                  </a:cubicBezTo>
                  <a:lnTo>
                    <a:pt x="18319" y="196047"/>
                  </a:lnTo>
                  <a:cubicBezTo>
                    <a:pt x="8202" y="196047"/>
                    <a:pt x="0" y="187846"/>
                    <a:pt x="0" y="177728"/>
                  </a:cubicBezTo>
                  <a:lnTo>
                    <a:pt x="0" y="18319"/>
                  </a:lnTo>
                  <a:cubicBezTo>
                    <a:pt x="0" y="8202"/>
                    <a:pt x="8202" y="0"/>
                    <a:pt x="18319" y="0"/>
                  </a:cubicBezTo>
                  <a:close/>
                </a:path>
              </a:pathLst>
            </a:custGeom>
            <a:gradFill rotWithShape="true">
              <a:gsLst>
                <a:gs pos="0">
                  <a:srgbClr val="F89D5B">
                    <a:alpha val="100000"/>
                  </a:srgbClr>
                </a:gs>
                <a:gs pos="100000">
                  <a:srgbClr val="D67938">
                    <a:alpha val="100000"/>
                  </a:srgbClr>
                </a:gs>
              </a:gsLst>
              <a:lin ang="0"/>
            </a:gradFill>
          </p:spPr>
        </p:sp>
        <p:sp>
          <p:nvSpPr>
            <p:cNvPr name="TextBox 16" id="16"/>
            <p:cNvSpPr txBox="true"/>
            <p:nvPr/>
          </p:nvSpPr>
          <p:spPr>
            <a:xfrm>
              <a:off x="0" y="-38100"/>
              <a:ext cx="1446959" cy="234147"/>
            </a:xfrm>
            <a:prstGeom prst="rect">
              <a:avLst/>
            </a:prstGeom>
          </p:spPr>
          <p:txBody>
            <a:bodyPr anchor="ctr" rtlCol="false" tIns="50800" lIns="50800" bIns="50800" rIns="50800"/>
            <a:lstStyle/>
            <a:p>
              <a:pPr algn="ctr" marL="0" indent="0" lvl="0">
                <a:lnSpc>
                  <a:spcPts val="2659"/>
                </a:lnSpc>
              </a:pPr>
            </a:p>
          </p:txBody>
        </p:sp>
      </p:grpSp>
      <p:grpSp>
        <p:nvGrpSpPr>
          <p:cNvPr name="Group 17" id="17"/>
          <p:cNvGrpSpPr/>
          <p:nvPr/>
        </p:nvGrpSpPr>
        <p:grpSpPr>
          <a:xfrm rot="0">
            <a:off x="4163112" y="5581656"/>
            <a:ext cx="5493923" cy="744367"/>
            <a:chOff x="0" y="0"/>
            <a:chExt cx="1446959" cy="196047"/>
          </a:xfrm>
        </p:grpSpPr>
        <p:sp>
          <p:nvSpPr>
            <p:cNvPr name="Freeform 18" id="18"/>
            <p:cNvSpPr/>
            <p:nvPr/>
          </p:nvSpPr>
          <p:spPr>
            <a:xfrm flipH="false" flipV="false" rot="0">
              <a:off x="0" y="0"/>
              <a:ext cx="1446959" cy="196047"/>
            </a:xfrm>
            <a:custGeom>
              <a:avLst/>
              <a:gdLst/>
              <a:ahLst/>
              <a:cxnLst/>
              <a:rect r="r" b="b" t="t" l="l"/>
              <a:pathLst>
                <a:path h="196047" w="1446959">
                  <a:moveTo>
                    <a:pt x="18319" y="0"/>
                  </a:moveTo>
                  <a:lnTo>
                    <a:pt x="1428640" y="0"/>
                  </a:lnTo>
                  <a:cubicBezTo>
                    <a:pt x="1438757" y="0"/>
                    <a:pt x="1446959" y="8202"/>
                    <a:pt x="1446959" y="18319"/>
                  </a:cubicBezTo>
                  <a:lnTo>
                    <a:pt x="1446959" y="177728"/>
                  </a:lnTo>
                  <a:cubicBezTo>
                    <a:pt x="1446959" y="187846"/>
                    <a:pt x="1438757" y="196047"/>
                    <a:pt x="1428640" y="196047"/>
                  </a:cubicBezTo>
                  <a:lnTo>
                    <a:pt x="18319" y="196047"/>
                  </a:lnTo>
                  <a:cubicBezTo>
                    <a:pt x="8202" y="196047"/>
                    <a:pt x="0" y="187846"/>
                    <a:pt x="0" y="177728"/>
                  </a:cubicBezTo>
                  <a:lnTo>
                    <a:pt x="0" y="18319"/>
                  </a:lnTo>
                  <a:cubicBezTo>
                    <a:pt x="0" y="8202"/>
                    <a:pt x="8202" y="0"/>
                    <a:pt x="18319" y="0"/>
                  </a:cubicBezTo>
                  <a:close/>
                </a:path>
              </a:pathLst>
            </a:custGeom>
            <a:gradFill rotWithShape="true">
              <a:gsLst>
                <a:gs pos="0">
                  <a:srgbClr val="F89D5B">
                    <a:alpha val="100000"/>
                  </a:srgbClr>
                </a:gs>
                <a:gs pos="100000">
                  <a:srgbClr val="D67938">
                    <a:alpha val="100000"/>
                  </a:srgbClr>
                </a:gs>
              </a:gsLst>
              <a:lin ang="0"/>
            </a:gradFill>
          </p:spPr>
        </p:sp>
        <p:sp>
          <p:nvSpPr>
            <p:cNvPr name="TextBox 19" id="19"/>
            <p:cNvSpPr txBox="true"/>
            <p:nvPr/>
          </p:nvSpPr>
          <p:spPr>
            <a:xfrm>
              <a:off x="0" y="-38100"/>
              <a:ext cx="1446959" cy="234147"/>
            </a:xfrm>
            <a:prstGeom prst="rect">
              <a:avLst/>
            </a:prstGeom>
          </p:spPr>
          <p:txBody>
            <a:bodyPr anchor="ctr" rtlCol="false" tIns="50800" lIns="50800" bIns="50800" rIns="50800"/>
            <a:lstStyle/>
            <a:p>
              <a:pPr algn="ctr" marL="0" indent="0" lvl="0">
                <a:lnSpc>
                  <a:spcPts val="2659"/>
                </a:lnSpc>
              </a:pPr>
            </a:p>
          </p:txBody>
        </p:sp>
      </p:grpSp>
      <p:sp>
        <p:nvSpPr>
          <p:cNvPr name="TextBox 20" id="20"/>
          <p:cNvSpPr txBox="true"/>
          <p:nvPr/>
        </p:nvSpPr>
        <p:spPr>
          <a:xfrm rot="0">
            <a:off x="4358559" y="4195737"/>
            <a:ext cx="5103028" cy="217551"/>
          </a:xfrm>
          <a:prstGeom prst="rect">
            <a:avLst/>
          </a:prstGeom>
        </p:spPr>
        <p:txBody>
          <a:bodyPr anchor="t" rtlCol="false" tIns="0" lIns="0" bIns="0" rIns="0">
            <a:spAutoFit/>
          </a:bodyPr>
          <a:lstStyle/>
          <a:p>
            <a:pPr algn="ctr" marL="0" indent="0" lvl="0">
              <a:lnSpc>
                <a:spcPts val="1517"/>
              </a:lnSpc>
            </a:pPr>
            <a:r>
              <a:rPr lang="en-US" b="true" sz="1379" spc="27">
                <a:solidFill>
                  <a:srgbClr val="FFFFFF"/>
                </a:solidFill>
                <a:latin typeface="Poppins Medium"/>
                <a:ea typeface="Poppins Medium"/>
                <a:cs typeface="Poppins Medium"/>
                <a:sym typeface="Poppins Medium"/>
              </a:rPr>
              <a:t>Benefits Achieved</a:t>
            </a:r>
          </a:p>
        </p:txBody>
      </p:sp>
      <p:sp>
        <p:nvSpPr>
          <p:cNvPr name="TextBox 21" id="21"/>
          <p:cNvSpPr txBox="true"/>
          <p:nvPr/>
        </p:nvSpPr>
        <p:spPr>
          <a:xfrm rot="0">
            <a:off x="4358559" y="5772547"/>
            <a:ext cx="5103028" cy="217551"/>
          </a:xfrm>
          <a:prstGeom prst="rect">
            <a:avLst/>
          </a:prstGeom>
        </p:spPr>
        <p:txBody>
          <a:bodyPr anchor="t" rtlCol="false" tIns="0" lIns="0" bIns="0" rIns="0">
            <a:spAutoFit/>
          </a:bodyPr>
          <a:lstStyle/>
          <a:p>
            <a:pPr algn="ctr" marL="0" indent="0" lvl="0">
              <a:lnSpc>
                <a:spcPts val="1517"/>
              </a:lnSpc>
            </a:pPr>
            <a:r>
              <a:rPr lang="en-US" b="true" sz="1379" spc="27">
                <a:solidFill>
                  <a:srgbClr val="FFFFFF"/>
                </a:solidFill>
                <a:latin typeface="Poppins Medium"/>
                <a:ea typeface="Poppins Medium"/>
                <a:cs typeface="Poppins Medium"/>
                <a:sym typeface="Poppins Medium"/>
              </a:rPr>
              <a:t>Challenges Identified</a:t>
            </a:r>
          </a:p>
        </p:txBody>
      </p:sp>
      <p:sp>
        <p:nvSpPr>
          <p:cNvPr name="TextBox 22" id="22"/>
          <p:cNvSpPr txBox="true"/>
          <p:nvPr/>
        </p:nvSpPr>
        <p:spPr>
          <a:xfrm rot="0">
            <a:off x="1571594" y="4941996"/>
            <a:ext cx="8085441" cy="417195"/>
          </a:xfrm>
          <a:prstGeom prst="rect">
            <a:avLst/>
          </a:prstGeom>
        </p:spPr>
        <p:txBody>
          <a:bodyPr anchor="t" rtlCol="false" tIns="0" lIns="0" bIns="0" rIns="0">
            <a:spAutoFit/>
          </a:bodyPr>
          <a:lstStyle/>
          <a:p>
            <a:pPr algn="r" marL="0" indent="0" lvl="0">
              <a:lnSpc>
                <a:spcPts val="1679"/>
              </a:lnSpc>
            </a:pPr>
            <a:r>
              <a:rPr lang="en-US" sz="1200" spc="24">
                <a:solidFill>
                  <a:srgbClr val="020D20"/>
                </a:solidFill>
                <a:latin typeface="Poppins"/>
                <a:ea typeface="Poppins"/>
                <a:cs typeface="Poppins"/>
                <a:sym typeface="Poppins"/>
              </a:rPr>
              <a:t>Digitization reduced retrieval time by ~60%; improved data accuracy, accessibility, and audit-readiness across H4ZP departments.</a:t>
            </a:r>
          </a:p>
        </p:txBody>
      </p:sp>
      <p:sp>
        <p:nvSpPr>
          <p:cNvPr name="TextBox 23" id="23"/>
          <p:cNvSpPr txBox="true"/>
          <p:nvPr/>
        </p:nvSpPr>
        <p:spPr>
          <a:xfrm rot="0">
            <a:off x="1571594" y="6518805"/>
            <a:ext cx="8085441" cy="417195"/>
          </a:xfrm>
          <a:prstGeom prst="rect">
            <a:avLst/>
          </a:prstGeom>
        </p:spPr>
        <p:txBody>
          <a:bodyPr anchor="t" rtlCol="false" tIns="0" lIns="0" bIns="0" rIns="0">
            <a:spAutoFit/>
          </a:bodyPr>
          <a:lstStyle/>
          <a:p>
            <a:pPr algn="r" marL="0" indent="0" lvl="0">
              <a:lnSpc>
                <a:spcPts val="1679"/>
              </a:lnSpc>
            </a:pPr>
            <a:r>
              <a:rPr lang="en-US" sz="1200" spc="24">
                <a:solidFill>
                  <a:srgbClr val="020D20"/>
                </a:solidFill>
                <a:latin typeface="Poppins"/>
                <a:ea typeface="Poppins"/>
                <a:cs typeface="Poppins"/>
                <a:sym typeface="Poppins"/>
              </a:rPr>
              <a:t>Inconsistent legacy formats, limited staff digital literacy, and absence of a centralized cloud backup posed significant workflow barriers.</a:t>
            </a:r>
          </a:p>
        </p:txBody>
      </p:sp>
      <p:grpSp>
        <p:nvGrpSpPr>
          <p:cNvPr name="Group 24" id="24"/>
          <p:cNvGrpSpPr/>
          <p:nvPr/>
        </p:nvGrpSpPr>
        <p:grpSpPr>
          <a:xfrm rot="0">
            <a:off x="4163112" y="7158466"/>
            <a:ext cx="5493923" cy="744367"/>
            <a:chOff x="0" y="0"/>
            <a:chExt cx="1446959" cy="196047"/>
          </a:xfrm>
        </p:grpSpPr>
        <p:sp>
          <p:nvSpPr>
            <p:cNvPr name="Freeform 25" id="25"/>
            <p:cNvSpPr/>
            <p:nvPr/>
          </p:nvSpPr>
          <p:spPr>
            <a:xfrm flipH="false" flipV="false" rot="0">
              <a:off x="0" y="0"/>
              <a:ext cx="1446959" cy="196047"/>
            </a:xfrm>
            <a:custGeom>
              <a:avLst/>
              <a:gdLst/>
              <a:ahLst/>
              <a:cxnLst/>
              <a:rect r="r" b="b" t="t" l="l"/>
              <a:pathLst>
                <a:path h="196047" w="1446959">
                  <a:moveTo>
                    <a:pt x="18319" y="0"/>
                  </a:moveTo>
                  <a:lnTo>
                    <a:pt x="1428640" y="0"/>
                  </a:lnTo>
                  <a:cubicBezTo>
                    <a:pt x="1438757" y="0"/>
                    <a:pt x="1446959" y="8202"/>
                    <a:pt x="1446959" y="18319"/>
                  </a:cubicBezTo>
                  <a:lnTo>
                    <a:pt x="1446959" y="177728"/>
                  </a:lnTo>
                  <a:cubicBezTo>
                    <a:pt x="1446959" y="187846"/>
                    <a:pt x="1438757" y="196047"/>
                    <a:pt x="1428640" y="196047"/>
                  </a:cubicBezTo>
                  <a:lnTo>
                    <a:pt x="18319" y="196047"/>
                  </a:lnTo>
                  <a:cubicBezTo>
                    <a:pt x="8202" y="196047"/>
                    <a:pt x="0" y="187846"/>
                    <a:pt x="0" y="177728"/>
                  </a:cubicBezTo>
                  <a:lnTo>
                    <a:pt x="0" y="18319"/>
                  </a:lnTo>
                  <a:cubicBezTo>
                    <a:pt x="0" y="8202"/>
                    <a:pt x="8202" y="0"/>
                    <a:pt x="18319" y="0"/>
                  </a:cubicBezTo>
                  <a:close/>
                </a:path>
              </a:pathLst>
            </a:custGeom>
            <a:gradFill rotWithShape="true">
              <a:gsLst>
                <a:gs pos="0">
                  <a:srgbClr val="F89D5B">
                    <a:alpha val="100000"/>
                  </a:srgbClr>
                </a:gs>
                <a:gs pos="100000">
                  <a:srgbClr val="D67938">
                    <a:alpha val="100000"/>
                  </a:srgbClr>
                </a:gs>
              </a:gsLst>
              <a:lin ang="0"/>
            </a:gradFill>
          </p:spPr>
        </p:sp>
        <p:sp>
          <p:nvSpPr>
            <p:cNvPr name="TextBox 26" id="26"/>
            <p:cNvSpPr txBox="true"/>
            <p:nvPr/>
          </p:nvSpPr>
          <p:spPr>
            <a:xfrm>
              <a:off x="0" y="-38100"/>
              <a:ext cx="1446959" cy="234147"/>
            </a:xfrm>
            <a:prstGeom prst="rect">
              <a:avLst/>
            </a:prstGeom>
          </p:spPr>
          <p:txBody>
            <a:bodyPr anchor="ctr" rtlCol="false" tIns="50800" lIns="50800" bIns="50800" rIns="50800"/>
            <a:lstStyle/>
            <a:p>
              <a:pPr algn="ctr" marL="0" indent="0" lvl="0">
                <a:lnSpc>
                  <a:spcPts val="2659"/>
                </a:lnSpc>
              </a:pPr>
            </a:p>
          </p:txBody>
        </p:sp>
      </p:grpSp>
      <p:sp>
        <p:nvSpPr>
          <p:cNvPr name="TextBox 27" id="27"/>
          <p:cNvSpPr txBox="true"/>
          <p:nvPr/>
        </p:nvSpPr>
        <p:spPr>
          <a:xfrm rot="0">
            <a:off x="4358559" y="7349357"/>
            <a:ext cx="5103028" cy="217551"/>
          </a:xfrm>
          <a:prstGeom prst="rect">
            <a:avLst/>
          </a:prstGeom>
        </p:spPr>
        <p:txBody>
          <a:bodyPr anchor="t" rtlCol="false" tIns="0" lIns="0" bIns="0" rIns="0">
            <a:spAutoFit/>
          </a:bodyPr>
          <a:lstStyle/>
          <a:p>
            <a:pPr algn="ctr" marL="0" indent="0" lvl="0">
              <a:lnSpc>
                <a:spcPts val="1517"/>
              </a:lnSpc>
            </a:pPr>
            <a:r>
              <a:rPr lang="en-US" b="true" sz="1379" spc="27">
                <a:solidFill>
                  <a:srgbClr val="FFFFFF"/>
                </a:solidFill>
                <a:latin typeface="Poppins Medium"/>
                <a:ea typeface="Poppins Medium"/>
                <a:cs typeface="Poppins Medium"/>
                <a:sym typeface="Poppins Medium"/>
              </a:rPr>
              <a:t>Future Recommendations</a:t>
            </a:r>
          </a:p>
        </p:txBody>
      </p:sp>
      <p:sp>
        <p:nvSpPr>
          <p:cNvPr name="TextBox 28" id="28"/>
          <p:cNvSpPr txBox="true"/>
          <p:nvPr/>
        </p:nvSpPr>
        <p:spPr>
          <a:xfrm rot="0">
            <a:off x="1571594" y="8095615"/>
            <a:ext cx="8085441" cy="417195"/>
          </a:xfrm>
          <a:prstGeom prst="rect">
            <a:avLst/>
          </a:prstGeom>
        </p:spPr>
        <p:txBody>
          <a:bodyPr anchor="t" rtlCol="false" tIns="0" lIns="0" bIns="0" rIns="0">
            <a:spAutoFit/>
          </a:bodyPr>
          <a:lstStyle/>
          <a:p>
            <a:pPr algn="r" marL="0" indent="0" lvl="0">
              <a:lnSpc>
                <a:spcPts val="1679"/>
              </a:lnSpc>
            </a:pPr>
            <a:r>
              <a:rPr lang="en-US" sz="1200" spc="24">
                <a:solidFill>
                  <a:srgbClr val="020D20"/>
                </a:solidFill>
                <a:latin typeface="Poppins"/>
                <a:ea typeface="Poppins"/>
                <a:cs typeface="Poppins"/>
                <a:sym typeface="Poppins"/>
              </a:rPr>
              <a:t>Adopt a unified DMS platform, conduct staff training programs, and implement automated data validation with cloud-based disaster recovery.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16666" r="0" b="-16666"/>
            </a:stretch>
          </a:blipFill>
        </p:spPr>
      </p:sp>
      <p:sp>
        <p:nvSpPr>
          <p:cNvPr name="Freeform 3" id="3"/>
          <p:cNvSpPr/>
          <p:nvPr/>
        </p:nvSpPr>
        <p:spPr>
          <a:xfrm flipH="true" flipV="false" rot="0">
            <a:off x="11014896" y="2227525"/>
            <a:ext cx="9265274" cy="8557744"/>
          </a:xfrm>
          <a:custGeom>
            <a:avLst/>
            <a:gdLst/>
            <a:ahLst/>
            <a:cxnLst/>
            <a:rect r="r" b="b" t="t" l="l"/>
            <a:pathLst>
              <a:path h="8557744" w="9265274">
                <a:moveTo>
                  <a:pt x="9265274" y="0"/>
                </a:moveTo>
                <a:lnTo>
                  <a:pt x="0" y="0"/>
                </a:lnTo>
                <a:lnTo>
                  <a:pt x="0" y="8557743"/>
                </a:lnTo>
                <a:lnTo>
                  <a:pt x="9265274" y="8557743"/>
                </a:lnTo>
                <a:lnTo>
                  <a:pt x="9265274"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564356" y="101341"/>
            <a:ext cx="5763112" cy="3038732"/>
          </a:xfrm>
          <a:custGeom>
            <a:avLst/>
            <a:gdLst/>
            <a:ahLst/>
            <a:cxnLst/>
            <a:rect r="r" b="b" t="t" l="l"/>
            <a:pathLst>
              <a:path h="3038732" w="5763112">
                <a:moveTo>
                  <a:pt x="0" y="3038732"/>
                </a:moveTo>
                <a:lnTo>
                  <a:pt x="5763112" y="3038732"/>
                </a:lnTo>
                <a:lnTo>
                  <a:pt x="5763112" y="0"/>
                </a:lnTo>
                <a:lnTo>
                  <a:pt x="0" y="0"/>
                </a:lnTo>
                <a:lnTo>
                  <a:pt x="0" y="3038732"/>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descr="Black Dotted Circle Recolorable Outline"/>
          <p:cNvSpPr/>
          <p:nvPr/>
        </p:nvSpPr>
        <p:spPr>
          <a:xfrm flipH="false" flipV="false" rot="0">
            <a:off x="-354072" y="277876"/>
            <a:ext cx="902651" cy="1051122"/>
          </a:xfrm>
          <a:custGeom>
            <a:avLst/>
            <a:gdLst/>
            <a:ahLst/>
            <a:cxnLst/>
            <a:rect r="r" b="b" t="t" l="l"/>
            <a:pathLst>
              <a:path h="1051122" w="902651">
                <a:moveTo>
                  <a:pt x="0" y="0"/>
                </a:moveTo>
                <a:lnTo>
                  <a:pt x="902651" y="0"/>
                </a:lnTo>
                <a:lnTo>
                  <a:pt x="902651" y="1051122"/>
                </a:lnTo>
                <a:lnTo>
                  <a:pt x="0" y="10511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descr="Black Dotted Circle Recolorable Outline"/>
          <p:cNvSpPr/>
          <p:nvPr/>
        </p:nvSpPr>
        <p:spPr>
          <a:xfrm flipH="false" flipV="false" rot="0">
            <a:off x="10690916" y="9734146"/>
            <a:ext cx="902651" cy="1051122"/>
          </a:xfrm>
          <a:custGeom>
            <a:avLst/>
            <a:gdLst/>
            <a:ahLst/>
            <a:cxnLst/>
            <a:rect r="r" b="b" t="t" l="l"/>
            <a:pathLst>
              <a:path h="1051122" w="902651">
                <a:moveTo>
                  <a:pt x="0" y="0"/>
                </a:moveTo>
                <a:lnTo>
                  <a:pt x="902651" y="0"/>
                </a:lnTo>
                <a:lnTo>
                  <a:pt x="902651" y="1051122"/>
                </a:lnTo>
                <a:lnTo>
                  <a:pt x="0" y="10511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484642" y="1109229"/>
            <a:ext cx="810828" cy="552837"/>
          </a:xfrm>
          <a:custGeom>
            <a:avLst/>
            <a:gdLst/>
            <a:ahLst/>
            <a:cxnLst/>
            <a:rect r="r" b="b" t="t" l="l"/>
            <a:pathLst>
              <a:path h="552837" w="810828">
                <a:moveTo>
                  <a:pt x="0" y="0"/>
                </a:moveTo>
                <a:lnTo>
                  <a:pt x="810828" y="0"/>
                </a:lnTo>
                <a:lnTo>
                  <a:pt x="810828" y="552837"/>
                </a:lnTo>
                <a:lnTo>
                  <a:pt x="0" y="55283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2465179" y="1113851"/>
            <a:ext cx="4876703" cy="442980"/>
          </a:xfrm>
          <a:prstGeom prst="rect">
            <a:avLst/>
          </a:prstGeom>
        </p:spPr>
        <p:txBody>
          <a:bodyPr anchor="t" rtlCol="false" tIns="0" lIns="0" bIns="0" rIns="0">
            <a:spAutoFit/>
          </a:bodyPr>
          <a:lstStyle/>
          <a:p>
            <a:pPr algn="just" marL="0" indent="0" lvl="0">
              <a:lnSpc>
                <a:spcPts val="3408"/>
              </a:lnSpc>
            </a:pPr>
            <a:r>
              <a:rPr lang="en-US" sz="2434" spc="48">
                <a:solidFill>
                  <a:srgbClr val="000000"/>
                </a:solidFill>
                <a:latin typeface="Poppins"/>
                <a:ea typeface="Poppins"/>
                <a:cs typeface="Poppins"/>
                <a:sym typeface="Poppins"/>
              </a:rPr>
              <a:t>Trijal Singh | 25SCS1003002647</a:t>
            </a:r>
          </a:p>
        </p:txBody>
      </p:sp>
      <p:sp>
        <p:nvSpPr>
          <p:cNvPr name="Freeform 9" id="9" descr="Bold Colorful Memphis Horizontal Repeating Lined Cross"/>
          <p:cNvSpPr/>
          <p:nvPr/>
        </p:nvSpPr>
        <p:spPr>
          <a:xfrm flipH="false" flipV="false" rot="0">
            <a:off x="11801231" y="693220"/>
            <a:ext cx="1809546" cy="220436"/>
          </a:xfrm>
          <a:custGeom>
            <a:avLst/>
            <a:gdLst/>
            <a:ahLst/>
            <a:cxnLst/>
            <a:rect r="r" b="b" t="t" l="l"/>
            <a:pathLst>
              <a:path h="220436" w="1809546">
                <a:moveTo>
                  <a:pt x="0" y="0"/>
                </a:moveTo>
                <a:lnTo>
                  <a:pt x="1809546" y="0"/>
                </a:lnTo>
                <a:lnTo>
                  <a:pt x="1809546" y="220435"/>
                </a:lnTo>
                <a:lnTo>
                  <a:pt x="0" y="22043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descr="Bold Colorful Memphis Horizontal Repeating Lined Cross"/>
          <p:cNvSpPr/>
          <p:nvPr/>
        </p:nvSpPr>
        <p:spPr>
          <a:xfrm flipH="false" flipV="false" rot="0">
            <a:off x="-653575" y="5363952"/>
            <a:ext cx="1558348" cy="189835"/>
          </a:xfrm>
          <a:custGeom>
            <a:avLst/>
            <a:gdLst/>
            <a:ahLst/>
            <a:cxnLst/>
            <a:rect r="r" b="b" t="t" l="l"/>
            <a:pathLst>
              <a:path h="189835" w="1558348">
                <a:moveTo>
                  <a:pt x="0" y="0"/>
                </a:moveTo>
                <a:lnTo>
                  <a:pt x="1558348" y="0"/>
                </a:lnTo>
                <a:lnTo>
                  <a:pt x="1558348" y="189835"/>
                </a:lnTo>
                <a:lnTo>
                  <a:pt x="0" y="18983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1" id="11"/>
          <p:cNvSpPr txBox="true"/>
          <p:nvPr/>
        </p:nvSpPr>
        <p:spPr>
          <a:xfrm rot="0">
            <a:off x="1484642" y="2141819"/>
            <a:ext cx="5869810" cy="1008554"/>
          </a:xfrm>
          <a:prstGeom prst="rect">
            <a:avLst/>
          </a:prstGeom>
        </p:spPr>
        <p:txBody>
          <a:bodyPr anchor="t" rtlCol="false" tIns="0" lIns="0" bIns="0" rIns="0">
            <a:spAutoFit/>
          </a:bodyPr>
          <a:lstStyle/>
          <a:p>
            <a:pPr algn="l" marL="0" indent="0" lvl="0">
              <a:lnSpc>
                <a:spcPts val="7081"/>
              </a:lnSpc>
            </a:pPr>
            <a:r>
              <a:rPr lang="en-US" b="true" sz="7081">
                <a:solidFill>
                  <a:srgbClr val="000000"/>
                </a:solidFill>
                <a:latin typeface="Poppins Bold"/>
                <a:ea typeface="Poppins Bold"/>
                <a:cs typeface="Poppins Bold"/>
                <a:sym typeface="Poppins Bold"/>
              </a:rPr>
              <a:t>Academic</a:t>
            </a:r>
          </a:p>
        </p:txBody>
      </p:sp>
      <p:sp>
        <p:nvSpPr>
          <p:cNvPr name="TextBox 12" id="12"/>
          <p:cNvSpPr txBox="true"/>
          <p:nvPr/>
        </p:nvSpPr>
        <p:spPr>
          <a:xfrm rot="0">
            <a:off x="6467514" y="2141819"/>
            <a:ext cx="4883023" cy="1008554"/>
          </a:xfrm>
          <a:prstGeom prst="rect">
            <a:avLst/>
          </a:prstGeom>
        </p:spPr>
        <p:txBody>
          <a:bodyPr anchor="t" rtlCol="false" tIns="0" lIns="0" bIns="0" rIns="0">
            <a:spAutoFit/>
          </a:bodyPr>
          <a:lstStyle/>
          <a:p>
            <a:pPr algn="r" marL="0" indent="0" lvl="0">
              <a:lnSpc>
                <a:spcPts val="7081"/>
              </a:lnSpc>
            </a:pPr>
            <a:r>
              <a:rPr lang="en-US" b="true" sz="7081">
                <a:solidFill>
                  <a:srgbClr val="D67938"/>
                </a:solidFill>
                <a:latin typeface="Poppins Bold"/>
                <a:ea typeface="Poppins Bold"/>
                <a:cs typeface="Poppins Bold"/>
                <a:sym typeface="Poppins Bold"/>
              </a:rPr>
              <a:t>Relevance</a:t>
            </a:r>
          </a:p>
        </p:txBody>
      </p:sp>
      <p:sp>
        <p:nvSpPr>
          <p:cNvPr name="TextBox 13" id="13"/>
          <p:cNvSpPr txBox="true"/>
          <p:nvPr/>
        </p:nvSpPr>
        <p:spPr>
          <a:xfrm rot="0">
            <a:off x="1484642" y="3800880"/>
            <a:ext cx="8951592" cy="1490261"/>
          </a:xfrm>
          <a:prstGeom prst="rect">
            <a:avLst/>
          </a:prstGeom>
        </p:spPr>
        <p:txBody>
          <a:bodyPr anchor="t" rtlCol="false" tIns="0" lIns="0" bIns="0" rIns="0">
            <a:spAutoFit/>
          </a:bodyPr>
          <a:lstStyle/>
          <a:p>
            <a:pPr algn="l" marL="0" indent="0" lvl="0">
              <a:lnSpc>
                <a:spcPts val="2384"/>
              </a:lnSpc>
            </a:pPr>
            <a:r>
              <a:rPr lang="en-US" sz="1703" spc="34">
                <a:solidFill>
                  <a:srgbClr val="000000"/>
                </a:solidFill>
                <a:latin typeface="Poppins"/>
                <a:ea typeface="Poppins"/>
                <a:cs typeface="Poppins"/>
                <a:sym typeface="Poppins"/>
              </a:rPr>
              <a:t>The B.Tech programme in CSE (AI &amp; ML) provided a strong foundation for this internship. Core concepts in data structuring, database management, and algorithmic thinking were directly applied to digitise and organise H4ZP's beneficiary records, enabling efficient retrieval and reducing manual processing time.</a:t>
            </a:r>
          </a:p>
        </p:txBody>
      </p:sp>
      <p:sp>
        <p:nvSpPr>
          <p:cNvPr name="TextBox 14" id="14"/>
          <p:cNvSpPr txBox="true"/>
          <p:nvPr/>
        </p:nvSpPr>
        <p:spPr>
          <a:xfrm rot="0">
            <a:off x="1484642" y="7156069"/>
            <a:ext cx="8951592" cy="1194986"/>
          </a:xfrm>
          <a:prstGeom prst="rect">
            <a:avLst/>
          </a:prstGeom>
        </p:spPr>
        <p:txBody>
          <a:bodyPr anchor="t" rtlCol="false" tIns="0" lIns="0" bIns="0" rIns="0">
            <a:spAutoFit/>
          </a:bodyPr>
          <a:lstStyle/>
          <a:p>
            <a:pPr algn="l" marL="0" indent="0" lvl="0">
              <a:lnSpc>
                <a:spcPts val="2384"/>
              </a:lnSpc>
            </a:pPr>
            <a:r>
              <a:rPr lang="en-US" sz="1703" spc="34">
                <a:solidFill>
                  <a:srgbClr val="000000"/>
                </a:solidFill>
                <a:latin typeface="Poppins"/>
                <a:ea typeface="Poppins"/>
                <a:cs typeface="Poppins"/>
                <a:sym typeface="Poppins"/>
              </a:rPr>
              <a:t>AI/ML principles guided the proposed workflow: data classification, pattern recognition in records, and automated tagging logic. This bridged theoretical learning with real-world non-profit operations at Hands 4 Zero Poverty Trust (June–July 2026).</a:t>
            </a:r>
          </a:p>
        </p:txBody>
      </p:sp>
      <p:grpSp>
        <p:nvGrpSpPr>
          <p:cNvPr name="Group 15" id="15"/>
          <p:cNvGrpSpPr/>
          <p:nvPr/>
        </p:nvGrpSpPr>
        <p:grpSpPr>
          <a:xfrm rot="0">
            <a:off x="1484642" y="6059277"/>
            <a:ext cx="5493923" cy="744367"/>
            <a:chOff x="0" y="0"/>
            <a:chExt cx="1446959" cy="196047"/>
          </a:xfrm>
        </p:grpSpPr>
        <p:sp>
          <p:nvSpPr>
            <p:cNvPr name="Freeform 16" id="16"/>
            <p:cNvSpPr/>
            <p:nvPr/>
          </p:nvSpPr>
          <p:spPr>
            <a:xfrm flipH="false" flipV="false" rot="0">
              <a:off x="0" y="0"/>
              <a:ext cx="1446959" cy="196047"/>
            </a:xfrm>
            <a:custGeom>
              <a:avLst/>
              <a:gdLst/>
              <a:ahLst/>
              <a:cxnLst/>
              <a:rect r="r" b="b" t="t" l="l"/>
              <a:pathLst>
                <a:path h="196047" w="1446959">
                  <a:moveTo>
                    <a:pt x="18319" y="0"/>
                  </a:moveTo>
                  <a:lnTo>
                    <a:pt x="1428640" y="0"/>
                  </a:lnTo>
                  <a:cubicBezTo>
                    <a:pt x="1438757" y="0"/>
                    <a:pt x="1446959" y="8202"/>
                    <a:pt x="1446959" y="18319"/>
                  </a:cubicBezTo>
                  <a:lnTo>
                    <a:pt x="1446959" y="177728"/>
                  </a:lnTo>
                  <a:cubicBezTo>
                    <a:pt x="1446959" y="187846"/>
                    <a:pt x="1438757" y="196047"/>
                    <a:pt x="1428640" y="196047"/>
                  </a:cubicBezTo>
                  <a:lnTo>
                    <a:pt x="18319" y="196047"/>
                  </a:lnTo>
                  <a:cubicBezTo>
                    <a:pt x="8202" y="196047"/>
                    <a:pt x="0" y="187846"/>
                    <a:pt x="0" y="177728"/>
                  </a:cubicBezTo>
                  <a:lnTo>
                    <a:pt x="0" y="18319"/>
                  </a:lnTo>
                  <a:cubicBezTo>
                    <a:pt x="0" y="8202"/>
                    <a:pt x="8202" y="0"/>
                    <a:pt x="18319" y="0"/>
                  </a:cubicBezTo>
                  <a:close/>
                </a:path>
              </a:pathLst>
            </a:custGeom>
            <a:gradFill rotWithShape="true">
              <a:gsLst>
                <a:gs pos="0">
                  <a:srgbClr val="F89D5B">
                    <a:alpha val="100000"/>
                  </a:srgbClr>
                </a:gs>
                <a:gs pos="100000">
                  <a:srgbClr val="D67938">
                    <a:alpha val="100000"/>
                  </a:srgbClr>
                </a:gs>
              </a:gsLst>
              <a:lin ang="0"/>
            </a:gradFill>
          </p:spPr>
        </p:sp>
        <p:sp>
          <p:nvSpPr>
            <p:cNvPr name="TextBox 17" id="17"/>
            <p:cNvSpPr txBox="true"/>
            <p:nvPr/>
          </p:nvSpPr>
          <p:spPr>
            <a:xfrm>
              <a:off x="0" y="-38100"/>
              <a:ext cx="1446959" cy="234147"/>
            </a:xfrm>
            <a:prstGeom prst="rect">
              <a:avLst/>
            </a:prstGeom>
          </p:spPr>
          <p:txBody>
            <a:bodyPr anchor="ctr" rtlCol="false" tIns="50800" lIns="50800" bIns="50800" rIns="50800"/>
            <a:lstStyle/>
            <a:p>
              <a:pPr algn="ctr" marL="0" indent="0" lvl="0">
                <a:lnSpc>
                  <a:spcPts val="2659"/>
                </a:lnSpc>
              </a:pPr>
            </a:p>
          </p:txBody>
        </p:sp>
      </p:grpSp>
      <p:sp>
        <p:nvSpPr>
          <p:cNvPr name="TextBox 18" id="18"/>
          <p:cNvSpPr txBox="true"/>
          <p:nvPr/>
        </p:nvSpPr>
        <p:spPr>
          <a:xfrm rot="0">
            <a:off x="1680090" y="6259693"/>
            <a:ext cx="5103028" cy="270265"/>
          </a:xfrm>
          <a:prstGeom prst="rect">
            <a:avLst/>
          </a:prstGeom>
        </p:spPr>
        <p:txBody>
          <a:bodyPr anchor="t" rtlCol="false" tIns="0" lIns="0" bIns="0" rIns="0">
            <a:spAutoFit/>
          </a:bodyPr>
          <a:lstStyle/>
          <a:p>
            <a:pPr algn="ctr" marL="0" indent="0" lvl="0">
              <a:lnSpc>
                <a:spcPts val="1958"/>
              </a:lnSpc>
            </a:pPr>
            <a:r>
              <a:rPr lang="en-US" b="true" sz="1780" spc="35">
                <a:solidFill>
                  <a:srgbClr val="FFFFFF"/>
                </a:solidFill>
                <a:latin typeface="Poppins Medium"/>
                <a:ea typeface="Poppins Medium"/>
                <a:cs typeface="Poppins Medium"/>
                <a:sym typeface="Poppins Medium"/>
              </a:rPr>
              <a:t>Review Proposed Documentation Workflow</a:t>
            </a:r>
          </a:p>
        </p:txBody>
      </p:sp>
      <p:sp>
        <p:nvSpPr>
          <p:cNvPr name="Freeform 19" id="19"/>
          <p:cNvSpPr/>
          <p:nvPr/>
        </p:nvSpPr>
        <p:spPr>
          <a:xfrm flipH="false" flipV="false" rot="0">
            <a:off x="-653575" y="8995325"/>
            <a:ext cx="5621137" cy="1911187"/>
          </a:xfrm>
          <a:custGeom>
            <a:avLst/>
            <a:gdLst/>
            <a:ahLst/>
            <a:cxnLst/>
            <a:rect r="r" b="b" t="t" l="l"/>
            <a:pathLst>
              <a:path h="1911187" w="5621137">
                <a:moveTo>
                  <a:pt x="0" y="0"/>
                </a:moveTo>
                <a:lnTo>
                  <a:pt x="5621137" y="0"/>
                </a:lnTo>
                <a:lnTo>
                  <a:pt x="5621137" y="1911187"/>
                </a:lnTo>
                <a:lnTo>
                  <a:pt x="0" y="191118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16666" r="0" b="-16666"/>
            </a:stretch>
          </a:blipFill>
        </p:spPr>
      </p:sp>
      <p:sp>
        <p:nvSpPr>
          <p:cNvPr name="Freeform 3" id="3"/>
          <p:cNvSpPr/>
          <p:nvPr/>
        </p:nvSpPr>
        <p:spPr>
          <a:xfrm flipH="false" flipV="false" rot="0">
            <a:off x="-1893804" y="4042403"/>
            <a:ext cx="9265274" cy="6325564"/>
          </a:xfrm>
          <a:custGeom>
            <a:avLst/>
            <a:gdLst/>
            <a:ahLst/>
            <a:cxnLst/>
            <a:rect r="r" b="b" t="t" l="l"/>
            <a:pathLst>
              <a:path h="6325564" w="9265274">
                <a:moveTo>
                  <a:pt x="0" y="0"/>
                </a:moveTo>
                <a:lnTo>
                  <a:pt x="9265274" y="0"/>
                </a:lnTo>
                <a:lnTo>
                  <a:pt x="9265274" y="6325564"/>
                </a:lnTo>
                <a:lnTo>
                  <a:pt x="0" y="6325564"/>
                </a:lnTo>
                <a:lnTo>
                  <a:pt x="0" y="0"/>
                </a:lnTo>
                <a:close/>
              </a:path>
            </a:pathLst>
          </a:custGeom>
          <a:blipFill>
            <a:blip r:embed="rId3">
              <a:extLst>
                <a:ext uri="{96DAC541-7B7A-43D3-8B79-37D633B846F1}">
                  <asvg:svgBlip xmlns:asvg="http://schemas.microsoft.com/office/drawing/2016/SVG/main" r:embed="rId4"/>
                </a:ext>
              </a:extLst>
            </a:blip>
            <a:stretch>
              <a:fillRect l="0" t="-35288" r="0" b="0"/>
            </a:stretch>
          </a:blipFill>
        </p:spPr>
      </p:sp>
      <p:sp>
        <p:nvSpPr>
          <p:cNvPr name="Freeform 4" id="4"/>
          <p:cNvSpPr/>
          <p:nvPr/>
        </p:nvSpPr>
        <p:spPr>
          <a:xfrm flipH="false" flipV="true" rot="0">
            <a:off x="0" y="-470843"/>
            <a:ext cx="1375693" cy="3152629"/>
          </a:xfrm>
          <a:custGeom>
            <a:avLst/>
            <a:gdLst/>
            <a:ahLst/>
            <a:cxnLst/>
            <a:rect r="r" b="b" t="t" l="l"/>
            <a:pathLst>
              <a:path h="3152629" w="1375693">
                <a:moveTo>
                  <a:pt x="0" y="3152629"/>
                </a:moveTo>
                <a:lnTo>
                  <a:pt x="1375693" y="3152629"/>
                </a:lnTo>
                <a:lnTo>
                  <a:pt x="1375693" y="0"/>
                </a:lnTo>
                <a:lnTo>
                  <a:pt x="0" y="0"/>
                </a:lnTo>
                <a:lnTo>
                  <a:pt x="0" y="3152629"/>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5400000">
            <a:off x="7254382" y="-439722"/>
            <a:ext cx="888656" cy="1034825"/>
          </a:xfrm>
          <a:custGeom>
            <a:avLst/>
            <a:gdLst/>
            <a:ahLst/>
            <a:cxnLst/>
            <a:rect r="r" b="b" t="t" l="l"/>
            <a:pathLst>
              <a:path h="1034825" w="888656">
                <a:moveTo>
                  <a:pt x="0" y="0"/>
                </a:moveTo>
                <a:lnTo>
                  <a:pt x="888656" y="0"/>
                </a:lnTo>
                <a:lnTo>
                  <a:pt x="888656" y="1034825"/>
                </a:lnTo>
                <a:lnTo>
                  <a:pt x="0" y="10348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5400000">
            <a:off x="15692957" y="9769587"/>
            <a:ext cx="888656" cy="1034825"/>
          </a:xfrm>
          <a:custGeom>
            <a:avLst/>
            <a:gdLst/>
            <a:ahLst/>
            <a:cxnLst/>
            <a:rect r="r" b="b" t="t" l="l"/>
            <a:pathLst>
              <a:path h="1034825" w="888656">
                <a:moveTo>
                  <a:pt x="0" y="0"/>
                </a:moveTo>
                <a:lnTo>
                  <a:pt x="888656" y="0"/>
                </a:lnTo>
                <a:lnTo>
                  <a:pt x="888656" y="1034826"/>
                </a:lnTo>
                <a:lnTo>
                  <a:pt x="0" y="10348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525128" y="940190"/>
            <a:ext cx="737229" cy="737229"/>
          </a:xfrm>
          <a:custGeom>
            <a:avLst/>
            <a:gdLst/>
            <a:ahLst/>
            <a:cxnLst/>
            <a:rect r="r" b="b" t="t" l="l"/>
            <a:pathLst>
              <a:path h="737229" w="737229">
                <a:moveTo>
                  <a:pt x="0" y="0"/>
                </a:moveTo>
                <a:lnTo>
                  <a:pt x="737229" y="0"/>
                </a:lnTo>
                <a:lnTo>
                  <a:pt x="737229" y="737229"/>
                </a:lnTo>
                <a:lnTo>
                  <a:pt x="0" y="737229"/>
                </a:lnTo>
                <a:lnTo>
                  <a:pt x="0" y="0"/>
                </a:lnTo>
                <a:close/>
              </a:path>
            </a:pathLst>
          </a:custGeom>
          <a:blipFill>
            <a:blip r:embed="rId9"/>
            <a:stretch>
              <a:fillRect l="0" t="0" r="0" b="0"/>
            </a:stretch>
          </a:blipFill>
        </p:spPr>
      </p:sp>
      <p:sp>
        <p:nvSpPr>
          <p:cNvPr name="Freeform 8" id="8"/>
          <p:cNvSpPr/>
          <p:nvPr/>
        </p:nvSpPr>
        <p:spPr>
          <a:xfrm flipH="false" flipV="false" rot="0">
            <a:off x="16997449" y="-366638"/>
            <a:ext cx="2581102" cy="4114800"/>
          </a:xfrm>
          <a:custGeom>
            <a:avLst/>
            <a:gdLst/>
            <a:ahLst/>
            <a:cxnLst/>
            <a:rect r="r" b="b" t="t" l="l"/>
            <a:pathLst>
              <a:path h="4114800" w="2581102">
                <a:moveTo>
                  <a:pt x="0" y="0"/>
                </a:moveTo>
                <a:lnTo>
                  <a:pt x="2581102" y="0"/>
                </a:lnTo>
                <a:lnTo>
                  <a:pt x="2581102"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10784887" y="2291935"/>
            <a:ext cx="5869810" cy="1011426"/>
          </a:xfrm>
          <a:prstGeom prst="rect">
            <a:avLst/>
          </a:prstGeom>
        </p:spPr>
        <p:txBody>
          <a:bodyPr anchor="t" rtlCol="false" tIns="0" lIns="0" bIns="0" rIns="0">
            <a:spAutoFit/>
          </a:bodyPr>
          <a:lstStyle/>
          <a:p>
            <a:pPr algn="r" marL="0" indent="0" lvl="0">
              <a:lnSpc>
                <a:spcPts val="7194"/>
              </a:lnSpc>
            </a:pPr>
            <a:r>
              <a:rPr lang="en-US" b="true" sz="7194">
                <a:solidFill>
                  <a:srgbClr val="000000"/>
                </a:solidFill>
                <a:latin typeface="Poppins Bold"/>
                <a:ea typeface="Poppins Bold"/>
                <a:cs typeface="Poppins Bold"/>
                <a:sym typeface="Poppins Bold"/>
              </a:rPr>
              <a:t>Conclusion</a:t>
            </a:r>
          </a:p>
        </p:txBody>
      </p:sp>
      <p:sp>
        <p:nvSpPr>
          <p:cNvPr name="TextBox 10" id="10"/>
          <p:cNvSpPr txBox="true"/>
          <p:nvPr/>
        </p:nvSpPr>
        <p:spPr>
          <a:xfrm rot="0">
            <a:off x="2465179" y="1033322"/>
            <a:ext cx="4876703" cy="442980"/>
          </a:xfrm>
          <a:prstGeom prst="rect">
            <a:avLst/>
          </a:prstGeom>
        </p:spPr>
        <p:txBody>
          <a:bodyPr anchor="t" rtlCol="false" tIns="0" lIns="0" bIns="0" rIns="0">
            <a:spAutoFit/>
          </a:bodyPr>
          <a:lstStyle/>
          <a:p>
            <a:pPr algn="just" marL="0" indent="0" lvl="0">
              <a:lnSpc>
                <a:spcPts val="3408"/>
              </a:lnSpc>
            </a:pPr>
            <a:r>
              <a:rPr lang="en-US" sz="2434" spc="48">
                <a:solidFill>
                  <a:srgbClr val="000000"/>
                </a:solidFill>
                <a:latin typeface="Poppins"/>
                <a:ea typeface="Poppins"/>
                <a:cs typeface="Poppins"/>
                <a:sym typeface="Poppins"/>
              </a:rPr>
              <a:t>Trijal Singh | 25SCS1003002647</a:t>
            </a:r>
          </a:p>
        </p:txBody>
      </p:sp>
      <p:sp>
        <p:nvSpPr>
          <p:cNvPr name="TextBox 11" id="11"/>
          <p:cNvSpPr txBox="true"/>
          <p:nvPr/>
        </p:nvSpPr>
        <p:spPr>
          <a:xfrm rot="0">
            <a:off x="7535872" y="3857010"/>
            <a:ext cx="9118826" cy="1527484"/>
          </a:xfrm>
          <a:prstGeom prst="rect">
            <a:avLst/>
          </a:prstGeom>
        </p:spPr>
        <p:txBody>
          <a:bodyPr anchor="t" rtlCol="false" tIns="0" lIns="0" bIns="0" rIns="0">
            <a:spAutoFit/>
          </a:bodyPr>
          <a:lstStyle/>
          <a:p>
            <a:pPr algn="r" marL="0" indent="0" lvl="0">
              <a:lnSpc>
                <a:spcPts val="2432"/>
              </a:lnSpc>
            </a:pPr>
            <a:r>
              <a:rPr lang="en-US" sz="1737" spc="34">
                <a:solidFill>
                  <a:srgbClr val="000000"/>
                </a:solidFill>
                <a:latin typeface="Poppins"/>
                <a:ea typeface="Poppins"/>
                <a:cs typeface="Poppins"/>
                <a:sym typeface="Poppins"/>
              </a:rPr>
              <a:t>H4ZP operates as a grassroots non-profit trust addressing poverty through community-driven initiatives. The organization's existing record-keeping relied heavily on paper-based and informal systems, creating significant gaps in data accessibility, traceability, and long-term preservation of beneficiary and operational records.</a:t>
            </a:r>
          </a:p>
        </p:txBody>
      </p:sp>
      <p:sp>
        <p:nvSpPr>
          <p:cNvPr name="TextBox 12" id="12"/>
          <p:cNvSpPr txBox="true"/>
          <p:nvPr/>
        </p:nvSpPr>
        <p:spPr>
          <a:xfrm rot="0">
            <a:off x="7535872" y="5694403"/>
            <a:ext cx="9118826" cy="1527484"/>
          </a:xfrm>
          <a:prstGeom prst="rect">
            <a:avLst/>
          </a:prstGeom>
        </p:spPr>
        <p:txBody>
          <a:bodyPr anchor="t" rtlCol="false" tIns="0" lIns="0" bIns="0" rIns="0">
            <a:spAutoFit/>
          </a:bodyPr>
          <a:lstStyle/>
          <a:p>
            <a:pPr algn="r" marL="0" indent="0" lvl="0">
              <a:lnSpc>
                <a:spcPts val="2432"/>
              </a:lnSpc>
            </a:pPr>
            <a:r>
              <a:rPr lang="en-US" sz="1737" spc="34">
                <a:solidFill>
                  <a:srgbClr val="000000"/>
                </a:solidFill>
                <a:latin typeface="Poppins"/>
                <a:ea typeface="Poppins"/>
                <a:cs typeface="Poppins"/>
                <a:sym typeface="Poppins"/>
              </a:rPr>
              <a:t>A structured digital documentation workflow was proposed, encompassing document digitization, standardized naming conventions, folder hierarchy design, and a centralized repository framework. This proposed system is designed to improve retrieval efficiency, reduce redundancy, and support evidence-based reporting for donors and stakeholders.</a:t>
            </a:r>
          </a:p>
        </p:txBody>
      </p:sp>
      <p:sp>
        <p:nvSpPr>
          <p:cNvPr name="Freeform 13" id="13"/>
          <p:cNvSpPr/>
          <p:nvPr/>
        </p:nvSpPr>
        <p:spPr>
          <a:xfrm flipH="false" flipV="false" rot="0">
            <a:off x="16257640" y="929277"/>
            <a:ext cx="1479619" cy="180244"/>
          </a:xfrm>
          <a:custGeom>
            <a:avLst/>
            <a:gdLst/>
            <a:ahLst/>
            <a:cxnLst/>
            <a:rect r="r" b="b" t="t" l="l"/>
            <a:pathLst>
              <a:path h="180244" w="1479619">
                <a:moveTo>
                  <a:pt x="0" y="0"/>
                </a:moveTo>
                <a:lnTo>
                  <a:pt x="1479619" y="0"/>
                </a:lnTo>
                <a:lnTo>
                  <a:pt x="1479619" y="180245"/>
                </a:lnTo>
                <a:lnTo>
                  <a:pt x="0" y="18024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4" id="14"/>
          <p:cNvSpPr txBox="true"/>
          <p:nvPr/>
        </p:nvSpPr>
        <p:spPr>
          <a:xfrm rot="0">
            <a:off x="7535872" y="7531796"/>
            <a:ext cx="9118826" cy="1222684"/>
          </a:xfrm>
          <a:prstGeom prst="rect">
            <a:avLst/>
          </a:prstGeom>
        </p:spPr>
        <p:txBody>
          <a:bodyPr anchor="t" rtlCol="false" tIns="0" lIns="0" bIns="0" rIns="0">
            <a:spAutoFit/>
          </a:bodyPr>
          <a:lstStyle/>
          <a:p>
            <a:pPr algn="r" marL="0" indent="0" lvl="0">
              <a:lnSpc>
                <a:spcPts val="2432"/>
              </a:lnSpc>
            </a:pPr>
            <a:r>
              <a:rPr lang="en-US" sz="1737" spc="34">
                <a:solidFill>
                  <a:srgbClr val="000000"/>
                </a:solidFill>
                <a:latin typeface="Poppins"/>
                <a:ea typeface="Poppins"/>
                <a:cs typeface="Poppins"/>
                <a:sym typeface="Poppins"/>
              </a:rPr>
              <a:t>This internship provided practical exposure to real-world documentation challenges in the non-profit sector, reinforcing skills in data organization, process analysis, and the application of AI-informed record management principles within a resource-constrained environment.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0347897" y="0"/>
            <a:ext cx="9265274" cy="8557744"/>
          </a:xfrm>
          <a:custGeom>
            <a:avLst/>
            <a:gdLst/>
            <a:ahLst/>
            <a:cxnLst/>
            <a:rect r="r" b="b" t="t" l="l"/>
            <a:pathLst>
              <a:path h="8557744" w="9265274">
                <a:moveTo>
                  <a:pt x="9265274" y="8557744"/>
                </a:moveTo>
                <a:lnTo>
                  <a:pt x="0" y="8557744"/>
                </a:lnTo>
                <a:lnTo>
                  <a:pt x="0" y="0"/>
                </a:lnTo>
                <a:lnTo>
                  <a:pt x="9265274" y="0"/>
                </a:lnTo>
                <a:lnTo>
                  <a:pt x="9265274" y="855774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1057633" y="7231550"/>
            <a:ext cx="9494134" cy="3228006"/>
          </a:xfrm>
          <a:custGeom>
            <a:avLst/>
            <a:gdLst/>
            <a:ahLst/>
            <a:cxnLst/>
            <a:rect r="r" b="b" t="t" l="l"/>
            <a:pathLst>
              <a:path h="3228006" w="9494134">
                <a:moveTo>
                  <a:pt x="9494134" y="0"/>
                </a:moveTo>
                <a:lnTo>
                  <a:pt x="0" y="0"/>
                </a:lnTo>
                <a:lnTo>
                  <a:pt x="0" y="3228006"/>
                </a:lnTo>
                <a:lnTo>
                  <a:pt x="9494134" y="3228006"/>
                </a:lnTo>
                <a:lnTo>
                  <a:pt x="949413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62500" y="-395334"/>
            <a:ext cx="1375693" cy="3152629"/>
          </a:xfrm>
          <a:custGeom>
            <a:avLst/>
            <a:gdLst/>
            <a:ahLst/>
            <a:cxnLst/>
            <a:rect r="r" b="b" t="t" l="l"/>
            <a:pathLst>
              <a:path h="3152629" w="1375693">
                <a:moveTo>
                  <a:pt x="0" y="3152629"/>
                </a:moveTo>
                <a:lnTo>
                  <a:pt x="1375692" y="3152629"/>
                </a:lnTo>
                <a:lnTo>
                  <a:pt x="1375692" y="0"/>
                </a:lnTo>
                <a:lnTo>
                  <a:pt x="0" y="0"/>
                </a:lnTo>
                <a:lnTo>
                  <a:pt x="0" y="3152629"/>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25128" y="1020720"/>
            <a:ext cx="737229" cy="737229"/>
          </a:xfrm>
          <a:custGeom>
            <a:avLst/>
            <a:gdLst/>
            <a:ahLst/>
            <a:cxnLst/>
            <a:rect r="r" b="b" t="t" l="l"/>
            <a:pathLst>
              <a:path h="737229" w="737229">
                <a:moveTo>
                  <a:pt x="0" y="0"/>
                </a:moveTo>
                <a:lnTo>
                  <a:pt x="737229" y="0"/>
                </a:lnTo>
                <a:lnTo>
                  <a:pt x="737229" y="737228"/>
                </a:lnTo>
                <a:lnTo>
                  <a:pt x="0" y="737228"/>
                </a:lnTo>
                <a:lnTo>
                  <a:pt x="0" y="0"/>
                </a:lnTo>
                <a:close/>
              </a:path>
            </a:pathLst>
          </a:custGeom>
          <a:blipFill>
            <a:blip r:embed="rId8"/>
            <a:stretch>
              <a:fillRect l="0" t="0" r="0" b="0"/>
            </a:stretch>
          </a:blipFill>
        </p:spPr>
      </p:sp>
      <p:sp>
        <p:nvSpPr>
          <p:cNvPr name="Freeform 6" id="6"/>
          <p:cNvSpPr/>
          <p:nvPr/>
        </p:nvSpPr>
        <p:spPr>
          <a:xfrm flipH="false" flipV="false" rot="0">
            <a:off x="9829620" y="9540464"/>
            <a:ext cx="1956533" cy="238341"/>
          </a:xfrm>
          <a:custGeom>
            <a:avLst/>
            <a:gdLst/>
            <a:ahLst/>
            <a:cxnLst/>
            <a:rect r="r" b="b" t="t" l="l"/>
            <a:pathLst>
              <a:path h="238341" w="1956533">
                <a:moveTo>
                  <a:pt x="0" y="0"/>
                </a:moveTo>
                <a:lnTo>
                  <a:pt x="1956532" y="0"/>
                </a:lnTo>
                <a:lnTo>
                  <a:pt x="1956532" y="238341"/>
                </a:lnTo>
                <a:lnTo>
                  <a:pt x="0" y="2383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410437" y="392016"/>
            <a:ext cx="1479619" cy="180244"/>
          </a:xfrm>
          <a:custGeom>
            <a:avLst/>
            <a:gdLst/>
            <a:ahLst/>
            <a:cxnLst/>
            <a:rect r="r" b="b" t="t" l="l"/>
            <a:pathLst>
              <a:path h="180244" w="1479619">
                <a:moveTo>
                  <a:pt x="0" y="0"/>
                </a:moveTo>
                <a:lnTo>
                  <a:pt x="1479619" y="0"/>
                </a:lnTo>
                <a:lnTo>
                  <a:pt x="1479619" y="180245"/>
                </a:lnTo>
                <a:lnTo>
                  <a:pt x="0" y="18024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9982975" y="-798393"/>
            <a:ext cx="1371239" cy="1596785"/>
          </a:xfrm>
          <a:custGeom>
            <a:avLst/>
            <a:gdLst/>
            <a:ahLst/>
            <a:cxnLst/>
            <a:rect r="r" b="b" t="t" l="l"/>
            <a:pathLst>
              <a:path h="1596785" w="1371239">
                <a:moveTo>
                  <a:pt x="0" y="0"/>
                </a:moveTo>
                <a:lnTo>
                  <a:pt x="1371239" y="0"/>
                </a:lnTo>
                <a:lnTo>
                  <a:pt x="1371239" y="1596786"/>
                </a:lnTo>
                <a:lnTo>
                  <a:pt x="0" y="159678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410437" y="9659634"/>
            <a:ext cx="965825" cy="1124687"/>
          </a:xfrm>
          <a:custGeom>
            <a:avLst/>
            <a:gdLst/>
            <a:ahLst/>
            <a:cxnLst/>
            <a:rect r="r" b="b" t="t" l="l"/>
            <a:pathLst>
              <a:path h="1124687" w="965825">
                <a:moveTo>
                  <a:pt x="0" y="0"/>
                </a:moveTo>
                <a:lnTo>
                  <a:pt x="965825" y="0"/>
                </a:lnTo>
                <a:lnTo>
                  <a:pt x="965825" y="1124688"/>
                </a:lnTo>
                <a:lnTo>
                  <a:pt x="0" y="112468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0" id="10"/>
          <p:cNvSpPr txBox="true"/>
          <p:nvPr/>
        </p:nvSpPr>
        <p:spPr>
          <a:xfrm rot="0">
            <a:off x="2465179" y="1151951"/>
            <a:ext cx="4876703" cy="274701"/>
          </a:xfrm>
          <a:prstGeom prst="rect">
            <a:avLst/>
          </a:prstGeom>
        </p:spPr>
        <p:txBody>
          <a:bodyPr anchor="t" rtlCol="false" tIns="0" lIns="0" bIns="0" rIns="0">
            <a:spAutoFit/>
          </a:bodyPr>
          <a:lstStyle/>
          <a:p>
            <a:pPr algn="just" marL="0" indent="0" lvl="0">
              <a:lnSpc>
                <a:spcPts val="2183"/>
              </a:lnSpc>
            </a:pPr>
            <a:r>
              <a:rPr lang="en-US" sz="1559" spc="31">
                <a:solidFill>
                  <a:srgbClr val="000000"/>
                </a:solidFill>
                <a:latin typeface="Poppins"/>
                <a:ea typeface="Poppins"/>
                <a:cs typeface="Poppins"/>
                <a:sym typeface="Poppins"/>
              </a:rPr>
              <a:t>IILM University, Greater Noida</a:t>
            </a:r>
          </a:p>
        </p:txBody>
      </p:sp>
      <p:sp>
        <p:nvSpPr>
          <p:cNvPr name="TextBox 11" id="11"/>
          <p:cNvSpPr txBox="true"/>
          <p:nvPr/>
        </p:nvSpPr>
        <p:spPr>
          <a:xfrm rot="0">
            <a:off x="1372615" y="4083727"/>
            <a:ext cx="8975282" cy="1523670"/>
          </a:xfrm>
          <a:prstGeom prst="rect">
            <a:avLst/>
          </a:prstGeom>
        </p:spPr>
        <p:txBody>
          <a:bodyPr anchor="t" rtlCol="false" tIns="0" lIns="0" bIns="0" rIns="0">
            <a:spAutoFit/>
          </a:bodyPr>
          <a:lstStyle/>
          <a:p>
            <a:pPr algn="l" marL="0" indent="0" lvl="0">
              <a:lnSpc>
                <a:spcPts val="10342"/>
              </a:lnSpc>
            </a:pPr>
            <a:r>
              <a:rPr lang="en-US" b="true" sz="11491">
                <a:solidFill>
                  <a:srgbClr val="000000"/>
                </a:solidFill>
                <a:latin typeface="Poppins Bold"/>
                <a:ea typeface="Poppins Bold"/>
                <a:cs typeface="Poppins Bold"/>
                <a:sym typeface="Poppins Bold"/>
              </a:rPr>
              <a:t>THANK YOU</a:t>
            </a:r>
          </a:p>
        </p:txBody>
      </p:sp>
      <p:sp>
        <p:nvSpPr>
          <p:cNvPr name="TextBox 12" id="12"/>
          <p:cNvSpPr txBox="true"/>
          <p:nvPr/>
        </p:nvSpPr>
        <p:spPr>
          <a:xfrm rot="0">
            <a:off x="1372615" y="5570771"/>
            <a:ext cx="8272447" cy="939973"/>
          </a:xfrm>
          <a:prstGeom prst="rect">
            <a:avLst/>
          </a:prstGeom>
        </p:spPr>
        <p:txBody>
          <a:bodyPr anchor="t" rtlCol="false" tIns="0" lIns="0" bIns="0" rIns="0">
            <a:spAutoFit/>
          </a:bodyPr>
          <a:lstStyle/>
          <a:p>
            <a:pPr algn="l" marL="0" indent="0" lvl="0">
              <a:lnSpc>
                <a:spcPts val="6431"/>
              </a:lnSpc>
            </a:pPr>
            <a:r>
              <a:rPr lang="en-US" sz="7146">
                <a:solidFill>
                  <a:srgbClr val="D67938"/>
                </a:solidFill>
                <a:latin typeface="Poppins Light"/>
                <a:ea typeface="Poppins Light"/>
                <a:cs typeface="Poppins Light"/>
                <a:sym typeface="Poppins Light"/>
              </a:rPr>
              <a:t>For Your Attention</a:t>
            </a:r>
          </a:p>
        </p:txBody>
      </p:sp>
      <p:sp>
        <p:nvSpPr>
          <p:cNvPr name="TextBox 13" id="13"/>
          <p:cNvSpPr txBox="true"/>
          <p:nvPr/>
        </p:nvSpPr>
        <p:spPr>
          <a:xfrm rot="0">
            <a:off x="1557173" y="8554775"/>
            <a:ext cx="3016871" cy="207645"/>
          </a:xfrm>
          <a:prstGeom prst="rect">
            <a:avLst/>
          </a:prstGeom>
        </p:spPr>
        <p:txBody>
          <a:bodyPr anchor="t" rtlCol="false" tIns="0" lIns="0" bIns="0" rIns="0">
            <a:spAutoFit/>
          </a:bodyPr>
          <a:lstStyle/>
          <a:p>
            <a:pPr algn="l" marL="0" indent="0" lvl="0">
              <a:lnSpc>
                <a:spcPts val="1679"/>
              </a:lnSpc>
            </a:pPr>
            <a:r>
              <a:rPr lang="en-US" sz="1200">
                <a:solidFill>
                  <a:srgbClr val="000000"/>
                </a:solidFill>
                <a:latin typeface="Poppins"/>
                <a:ea typeface="Poppins"/>
                <a:cs typeface="Poppins"/>
                <a:sym typeface="Poppins"/>
              </a:rPr>
              <a:t>Presented By:</a:t>
            </a:r>
          </a:p>
        </p:txBody>
      </p:sp>
      <p:sp>
        <p:nvSpPr>
          <p:cNvPr name="TextBox 14" id="14"/>
          <p:cNvSpPr txBox="true"/>
          <p:nvPr/>
        </p:nvSpPr>
        <p:spPr>
          <a:xfrm rot="0">
            <a:off x="5435003" y="8554775"/>
            <a:ext cx="3016871" cy="207645"/>
          </a:xfrm>
          <a:prstGeom prst="rect">
            <a:avLst/>
          </a:prstGeom>
        </p:spPr>
        <p:txBody>
          <a:bodyPr anchor="t" rtlCol="false" tIns="0" lIns="0" bIns="0" rIns="0">
            <a:spAutoFit/>
          </a:bodyPr>
          <a:lstStyle/>
          <a:p>
            <a:pPr algn="l" marL="0" indent="0" lvl="0">
              <a:lnSpc>
                <a:spcPts val="1679"/>
              </a:lnSpc>
            </a:pPr>
            <a:r>
              <a:rPr lang="en-US" sz="1200">
                <a:solidFill>
                  <a:srgbClr val="000000"/>
                </a:solidFill>
                <a:latin typeface="Poppins"/>
                <a:ea typeface="Poppins"/>
                <a:cs typeface="Poppins"/>
                <a:sym typeface="Poppins"/>
              </a:rPr>
              <a:t>Roll No:</a:t>
            </a:r>
          </a:p>
        </p:txBody>
      </p:sp>
      <p:sp>
        <p:nvSpPr>
          <p:cNvPr name="TextBox 15" id="15"/>
          <p:cNvSpPr txBox="true"/>
          <p:nvPr/>
        </p:nvSpPr>
        <p:spPr>
          <a:xfrm rot="0">
            <a:off x="1557173" y="8845587"/>
            <a:ext cx="3397216" cy="771525"/>
          </a:xfrm>
          <a:prstGeom prst="rect">
            <a:avLst/>
          </a:prstGeom>
        </p:spPr>
        <p:txBody>
          <a:bodyPr anchor="t" rtlCol="false" tIns="0" lIns="0" bIns="0" rIns="0">
            <a:spAutoFit/>
          </a:bodyPr>
          <a:lstStyle/>
          <a:p>
            <a:pPr algn="l" marL="0" indent="0" lvl="0">
              <a:lnSpc>
                <a:spcPts val="2099"/>
              </a:lnSpc>
            </a:pPr>
            <a:r>
              <a:rPr lang="en-US" b="true" sz="1499">
                <a:solidFill>
                  <a:srgbClr val="000000"/>
                </a:solidFill>
                <a:latin typeface="Poppins Medium"/>
                <a:ea typeface="Poppins Medium"/>
                <a:cs typeface="Poppins Medium"/>
                <a:sym typeface="Poppins Medium"/>
              </a:rPr>
              <a:t>Trijal Singh</a:t>
            </a:r>
          </a:p>
          <a:p>
            <a:pPr algn="l" marL="0" indent="0" lvl="0">
              <a:lnSpc>
                <a:spcPts val="2099"/>
              </a:lnSpc>
            </a:pPr>
            <a:r>
              <a:rPr lang="en-US" b="true" sz="1499">
                <a:solidFill>
                  <a:srgbClr val="000000"/>
                </a:solidFill>
                <a:latin typeface="Poppins Medium"/>
                <a:ea typeface="Poppins Medium"/>
                <a:cs typeface="Poppins Medium"/>
                <a:sym typeface="Poppins Medium"/>
              </a:rPr>
              <a:t>B.Tech CSE (AI &amp; ML) | Internship: 10 June – 10 July 2026</a:t>
            </a:r>
          </a:p>
        </p:txBody>
      </p:sp>
      <p:sp>
        <p:nvSpPr>
          <p:cNvPr name="TextBox 16" id="16"/>
          <p:cNvSpPr txBox="true"/>
          <p:nvPr/>
        </p:nvSpPr>
        <p:spPr>
          <a:xfrm rot="0">
            <a:off x="5435003" y="8845587"/>
            <a:ext cx="3016871" cy="257175"/>
          </a:xfrm>
          <a:prstGeom prst="rect">
            <a:avLst/>
          </a:prstGeom>
        </p:spPr>
        <p:txBody>
          <a:bodyPr anchor="t" rtlCol="false" tIns="0" lIns="0" bIns="0" rIns="0">
            <a:spAutoFit/>
          </a:bodyPr>
          <a:lstStyle/>
          <a:p>
            <a:pPr algn="l" marL="0" indent="0" lvl="0">
              <a:lnSpc>
                <a:spcPts val="2099"/>
              </a:lnSpc>
            </a:pPr>
            <a:r>
              <a:rPr lang="en-US" b="true" sz="1499">
                <a:solidFill>
                  <a:srgbClr val="000000"/>
                </a:solidFill>
                <a:latin typeface="Poppins Medium"/>
                <a:ea typeface="Poppins Medium"/>
                <a:cs typeface="Poppins Medium"/>
                <a:sym typeface="Poppins Medium"/>
              </a:rPr>
              <a:t>25SCS1003002647</a:t>
            </a:r>
          </a:p>
        </p:txBody>
      </p:sp>
      <p:sp>
        <p:nvSpPr>
          <p:cNvPr name="AutoShape 17" id="17"/>
          <p:cNvSpPr/>
          <p:nvPr/>
        </p:nvSpPr>
        <p:spPr>
          <a:xfrm>
            <a:off x="1484642" y="6662052"/>
            <a:ext cx="4655459" cy="0"/>
          </a:xfrm>
          <a:prstGeom prst="line">
            <a:avLst/>
          </a:prstGeom>
          <a:ln cap="flat" w="38100">
            <a:solidFill>
              <a:srgbClr val="000000"/>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DAHY5aRnkok</dc:identifier>
  <dcterms:modified xsi:type="dcterms:W3CDTF">2011-08-01T06:04:30Z</dcterms:modified>
  <cp:revision>1</cp:revision>
  <dc:title>Non Text Magic Studio Magic Design for Presentations L&amp;P</dc:title>
</cp:coreProperties>
</file>